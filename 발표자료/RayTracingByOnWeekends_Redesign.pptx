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5207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원본: 1번 슬라이드 (RayTracingByOnWeekends / 이종진)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13개 챕터 (챕터 번호는 원서 기준)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원본: 2번 슬라이드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원본: 3번 슬라이드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원본: 3~4번 슬라이드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원본: 5번 슬라이드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원본: 6번 슬라이드 (픽셀 격자 도식은 새로 그림)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원본: 7번 슬라이드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원본: 8번 슬라이드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원본: 9번 슬라이드 (상단)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원본: 9번 슬라이드 (하단)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원본: 10번 슬라이드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원본: 11번 슬라이드 (도식은 새로 그림)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원본: 12번 슬라이드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원본: 13번 슬라이드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원본: 14번 슬라이드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원본: 15번 슬라이드 (샘플링 도식은 새로 그림)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원본: 15~16번 슬라이드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원본: 17번 슬라이드 (확대 비교 이미지 추가)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원본: 18번 슬라이드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원본: 19번 슬라이드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원본: 20번 슬라이드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원본: 21번 슬라이드 (상단)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원본: 21번 슬라이드 (하단)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원본: 22번 슬라이드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원본: 23번 슬라이드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원본: 24~25번 슬라이드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원본: 24~25번 슬라이드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원본: 26번 슬라이드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원본: 27번 슬라이드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원본: 28번 슬라이드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원본: 29번 슬라이드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원본: 30번 슬라이드 (설명 문장 일부 보완)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원본: 31번 슬라이드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원본: 32번 슬라이드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원본: 33번 슬라이드 (벡터 도식은 새로 그림)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원본: 34번 슬라이드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원본: 35번 슬라이드 (상단)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원본: 35~36번 슬라이드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원본: 36번 슬라이드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원본: 37번 슬라이드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원본: 38번 슬라이드 · 설정값은 Phase1/kernel.cu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원본: 39번 슬라이드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cs.rhodes.edu/welshc/COMP141_F16/ppmReader.html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jpg"/><Relationship Id="rId4" Type="http://schemas.openxmlformats.org/officeDocument/2006/relationships/image" Target="../media/image36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47.jp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2.png"/><Relationship Id="rId4" Type="http://schemas.openxmlformats.org/officeDocument/2006/relationships/image" Target="../media/image5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0.png"/><Relationship Id="rId7" Type="http://schemas.openxmlformats.org/officeDocument/2006/relationships/image" Target="../media/image52.png"/><Relationship Id="rId12" Type="http://schemas.openxmlformats.org/officeDocument/2006/relationships/image" Target="../media/image6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11" Type="http://schemas.openxmlformats.org/officeDocument/2006/relationships/image" Target="../media/image54.png"/><Relationship Id="rId5" Type="http://schemas.openxmlformats.org/officeDocument/2006/relationships/image" Target="../media/image51.png"/><Relationship Id="rId10" Type="http://schemas.openxmlformats.org/officeDocument/2006/relationships/image" Target="../media/image60.png"/><Relationship Id="rId4" Type="http://schemas.openxmlformats.org/officeDocument/2006/relationships/image" Target="../media/image58.png"/><Relationship Id="rId9" Type="http://schemas.openxmlformats.org/officeDocument/2006/relationships/image" Target="../media/image5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png"/><Relationship Id="rId5" Type="http://schemas.openxmlformats.org/officeDocument/2006/relationships/image" Target="../media/image76.png"/><Relationship Id="rId4" Type="http://schemas.openxmlformats.org/officeDocument/2006/relationships/image" Target="../media/image7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9.jp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4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E8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Phase 1 Study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071055" y="274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C++ Ray Tracer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66928"/>
            <a:ext cx="11094415" cy="0"/>
          </a:xfrm>
          <a:prstGeom prst="line">
            <a:avLst/>
          </a:prstGeom>
          <a:noFill/>
          <a:ln w="9525">
            <a:solidFill>
              <a:srgbClr val="D5D9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6035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발표  이종진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156655" y="6035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Ch.02 — Ch.14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6327648"/>
            <a:ext cx="11094415" cy="0"/>
          </a:xfrm>
          <a:prstGeom prst="line">
            <a:avLst/>
          </a:prstGeom>
          <a:noFill/>
          <a:ln w="9525">
            <a:solidFill>
              <a:srgbClr val="D5D9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914400" y="18745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6000" kern="0" spc="120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RAY TRACING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26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F3F1E5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in One Weekend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978408" y="38404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‘Ray Tracing in One Weekend’를 C++로 따라 구현하며 정리한 스터디 발표입니다.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PPM 이미지 출력부터 재질, 카메라, 최종 렌더까지 13개 챕터를 다룹니다.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Contents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784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kern="0" spc="50" dirty="0">
                <a:solidFill>
                  <a:srgbClr val="5F66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목차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Ray Tracing in One Weekend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02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645920"/>
            <a:ext cx="525780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548640" y="175564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175564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Output an Image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011680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이미지 출력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2267712"/>
            <a:ext cx="525780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548640" y="23774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2377440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The vec3 Class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2633472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vec3 클래스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" y="2889504"/>
            <a:ext cx="525780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548640" y="299923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04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1280160" y="299923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Rays, a Simple Camera and Background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3255264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광선, 간단한 카메라, 그리고 배경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" y="3511296"/>
            <a:ext cx="525780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548640" y="3621024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05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621024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Adding a Sphere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3877056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구 추가하기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48640" y="4133088"/>
            <a:ext cx="525780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548640" y="424281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06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1280160" y="424281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Surface Normals and Multiple Objects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280160" y="4498848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표면 법선과 다중 객체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48640" y="4754880"/>
            <a:ext cx="525780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 txBox="1"/>
          <p:nvPr/>
        </p:nvSpPr>
        <p:spPr>
          <a:xfrm>
            <a:off x="548640" y="486460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07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1280160" y="486460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Moving Camera Code Into Its Own Class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1280160" y="5120640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카메라 코드를 자체 클래스로 이동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48640" y="5376672"/>
            <a:ext cx="525780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 txBox="1"/>
          <p:nvPr/>
        </p:nvSpPr>
        <p:spPr>
          <a:xfrm>
            <a:off x="548640" y="54864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08</a:t>
            </a:r>
            <a:endParaRPr lang="en-US" sz="2000" dirty="0"/>
          </a:p>
        </p:txBody>
      </p:sp>
      <p:sp>
        <p:nvSpPr>
          <p:cNvPr id="33" name="Text 30"/>
          <p:cNvSpPr txBox="1"/>
          <p:nvPr/>
        </p:nvSpPr>
        <p:spPr>
          <a:xfrm>
            <a:off x="1280160" y="5486400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Antialiasing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1280160" y="5742432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안티 앨리어싱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385255" y="1645920"/>
            <a:ext cx="525780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 txBox="1"/>
          <p:nvPr/>
        </p:nvSpPr>
        <p:spPr>
          <a:xfrm>
            <a:off x="6385255" y="175564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09</a:t>
            </a:r>
            <a:endParaRPr lang="en-US" sz="2000" dirty="0"/>
          </a:p>
        </p:txBody>
      </p:sp>
      <p:sp>
        <p:nvSpPr>
          <p:cNvPr id="37" name="Text 34"/>
          <p:cNvSpPr txBox="1"/>
          <p:nvPr/>
        </p:nvSpPr>
        <p:spPr>
          <a:xfrm>
            <a:off x="7116775" y="175564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Diffuse Materials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7116775" y="2011680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확산 재질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6385255" y="2267712"/>
            <a:ext cx="525780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7"/>
          <p:cNvSpPr txBox="1"/>
          <p:nvPr/>
        </p:nvSpPr>
        <p:spPr>
          <a:xfrm>
            <a:off x="6385255" y="23774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10</a:t>
            </a:r>
            <a:endParaRPr lang="en-US" sz="2000" dirty="0"/>
          </a:p>
        </p:txBody>
      </p:sp>
      <p:sp>
        <p:nvSpPr>
          <p:cNvPr id="41" name="Text 38"/>
          <p:cNvSpPr txBox="1"/>
          <p:nvPr/>
        </p:nvSpPr>
        <p:spPr>
          <a:xfrm>
            <a:off x="7116775" y="2377440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Metal</a:t>
            </a:r>
            <a:endParaRPr lang="en-US" sz="1300" dirty="0"/>
          </a:p>
        </p:txBody>
      </p:sp>
      <p:sp>
        <p:nvSpPr>
          <p:cNvPr id="42" name="Text 39"/>
          <p:cNvSpPr txBox="1"/>
          <p:nvPr/>
        </p:nvSpPr>
        <p:spPr>
          <a:xfrm>
            <a:off x="7116775" y="2633472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금속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385255" y="2889504"/>
            <a:ext cx="525780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 txBox="1"/>
          <p:nvPr/>
        </p:nvSpPr>
        <p:spPr>
          <a:xfrm>
            <a:off x="6385255" y="299923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11</a:t>
            </a:r>
            <a:endParaRPr lang="en-US" sz="2000" dirty="0"/>
          </a:p>
        </p:txBody>
      </p:sp>
      <p:sp>
        <p:nvSpPr>
          <p:cNvPr id="45" name="Text 42"/>
          <p:cNvSpPr txBox="1"/>
          <p:nvPr/>
        </p:nvSpPr>
        <p:spPr>
          <a:xfrm>
            <a:off x="7116775" y="299923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Dielectrics</a:t>
            </a:r>
            <a:endParaRPr lang="en-US" sz="1300" dirty="0"/>
          </a:p>
        </p:txBody>
      </p:sp>
      <p:sp>
        <p:nvSpPr>
          <p:cNvPr id="46" name="Text 43"/>
          <p:cNvSpPr txBox="1"/>
          <p:nvPr/>
        </p:nvSpPr>
        <p:spPr>
          <a:xfrm>
            <a:off x="7116775" y="3255264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유전체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6385255" y="3511296"/>
            <a:ext cx="525780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5"/>
          <p:cNvSpPr txBox="1"/>
          <p:nvPr/>
        </p:nvSpPr>
        <p:spPr>
          <a:xfrm>
            <a:off x="6385255" y="3621024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12</a:t>
            </a:r>
            <a:endParaRPr lang="en-US" sz="2000" dirty="0"/>
          </a:p>
        </p:txBody>
      </p:sp>
      <p:sp>
        <p:nvSpPr>
          <p:cNvPr id="49" name="Text 46"/>
          <p:cNvSpPr txBox="1"/>
          <p:nvPr/>
        </p:nvSpPr>
        <p:spPr>
          <a:xfrm>
            <a:off x="7116775" y="3621024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Positionable Camera</a:t>
            </a:r>
            <a:endParaRPr lang="en-US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7116775" y="3877056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위치 조정 가능한 카메라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6385255" y="4133088"/>
            <a:ext cx="525780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9"/>
          <p:cNvSpPr txBox="1"/>
          <p:nvPr/>
        </p:nvSpPr>
        <p:spPr>
          <a:xfrm>
            <a:off x="6385255" y="424281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13</a:t>
            </a:r>
            <a:endParaRPr lang="en-US" sz="2000" dirty="0"/>
          </a:p>
        </p:txBody>
      </p:sp>
      <p:sp>
        <p:nvSpPr>
          <p:cNvPr id="53" name="Text 50"/>
          <p:cNvSpPr txBox="1"/>
          <p:nvPr/>
        </p:nvSpPr>
        <p:spPr>
          <a:xfrm>
            <a:off x="7116775" y="424281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Defocus Blur</a:t>
            </a:r>
            <a:endParaRPr lang="en-US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7116775" y="4498848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초점 흐림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6385255" y="4754880"/>
            <a:ext cx="525780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3"/>
          <p:cNvSpPr txBox="1"/>
          <p:nvPr/>
        </p:nvSpPr>
        <p:spPr>
          <a:xfrm>
            <a:off x="6385255" y="486460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14</a:t>
            </a:r>
            <a:endParaRPr lang="en-US" sz="2000" dirty="0"/>
          </a:p>
        </p:txBody>
      </p:sp>
      <p:sp>
        <p:nvSpPr>
          <p:cNvPr id="57" name="Text 54"/>
          <p:cNvSpPr txBox="1"/>
          <p:nvPr/>
        </p:nvSpPr>
        <p:spPr>
          <a:xfrm>
            <a:off x="7116775" y="486460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Final Render</a:t>
            </a:r>
            <a:endParaRPr lang="en-US" sz="1300" dirty="0"/>
          </a:p>
        </p:txBody>
      </p:sp>
      <p:sp>
        <p:nvSpPr>
          <p:cNvPr id="58" name="Text 55"/>
          <p:cNvSpPr txBox="1"/>
          <p:nvPr/>
        </p:nvSpPr>
        <p:spPr>
          <a:xfrm>
            <a:off x="7116775" y="5120640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최종 렌더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548640" y="5998464"/>
            <a:ext cx="525780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7"/>
          <p:cNvSpPr/>
          <p:nvPr/>
        </p:nvSpPr>
        <p:spPr>
          <a:xfrm>
            <a:off x="6385255" y="5376672"/>
            <a:ext cx="525780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8"/>
          <p:cNvSpPr txBox="1"/>
          <p:nvPr/>
        </p:nvSpPr>
        <p:spPr>
          <a:xfrm>
            <a:off x="6385255" y="5724144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* 챕터 번호는 원서 기준 (1장 Overview 제외)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Output an Image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784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kern="0" spc="50" dirty="0">
                <a:solidFill>
                  <a:srgbClr val="5F66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이미지 출력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329184"/>
            <a:ext cx="1401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00" dirty="0">
                <a:solidFill>
                  <a:srgbClr val="D2CEC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Ray Tracing in One Weekend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03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484632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548640" y="16184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1.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168249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PPM 이미지 포맷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1960245"/>
            <a:ext cx="4389120" cy="44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PPM은 이미지 포맷 중 하나다. 픽셀은 왼쪽에서 오른쪽으로, 위에서 아래 순서로 작성된다.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2552941"/>
            <a:ext cx="484632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548640" y="2616949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2.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2680957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256 × 256 예시 이미지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2958706"/>
            <a:ext cx="4389120" cy="44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픽셀 색상은 0~255 사이의 정수로 표현할 수 있으므로 예시 이미지의 크기를 width 256, height 256으로 설정한다.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551403"/>
            <a:ext cx="484632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548640" y="3615411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3.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" y="3679419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0~1 실수로 계산, 0~255 정수로 출력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005840" y="3957168"/>
            <a:ext cx="4389120" cy="44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관례적으로 r, g, b는 0과 1 사이의 실수로 표현한다. 0~255 정수를 실수로 바꿔 계산하고, 출력할 때 다시 0~255 정수로 변환한다.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4549864"/>
            <a:ext cx="484632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548640" y="461387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4.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1005840" y="46778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빌드 결과를 이미지로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005840" y="4955629"/>
            <a:ext cx="4389120" cy="44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실행 결과를 리다이렉션(&gt;)으로 .ppm 파일에 저장한다. 파일 이름은 상관없다.</a:t>
            </a:r>
            <a:endParaRPr lang="en-US" sz="1150" dirty="0"/>
          </a:p>
        </p:txBody>
      </p:sp>
      <p:pic>
        <p:nvPicPr>
          <p:cNvPr id="24" name="Image 0" descr="콘솔에서 Phase1.exe &gt; Phase1.ppm 실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566613"/>
            <a:ext cx="4389120" cy="675821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5760720" y="1508760"/>
            <a:ext cx="5882335" cy="4709160"/>
          </a:xfrm>
          <a:prstGeom prst="rect">
            <a:avLst/>
          </a:prstGeom>
          <a:solidFill>
            <a:srgbClr val="F5F5F3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1" descr="main 함수 PPM 출력 코드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783080"/>
            <a:ext cx="3520440" cy="3758070"/>
          </a:xfrm>
          <a:prstGeom prst="rect">
            <a:avLst/>
          </a:prstGeom>
        </p:spPr>
      </p:pic>
      <p:pic>
        <p:nvPicPr>
          <p:cNvPr id="27" name="Image 2" descr="PPM Viewer 결과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0" y="1783080"/>
            <a:ext cx="1554480" cy="2005557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9829800" y="1783080"/>
            <a:ext cx="1554480" cy="2005557"/>
          </a:xfrm>
          <a:prstGeom prst="rect">
            <a:avLst/>
          </a:prstGeom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3"/>
          <p:cNvSpPr txBox="1"/>
          <p:nvPr/>
        </p:nvSpPr>
        <p:spPr>
          <a:xfrm>
            <a:off x="9829800" y="3880077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PPM Viewer로 확인한 출력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9829800" y="52578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b="1" u="sng" dirty="0">
                <a:solidFill>
                  <a:srgbClr val="5F66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PPM Viewer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cs.rhodes.edu/welshc/COMP141_F16/ppmReader.html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The vec3 Class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784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kern="0" spc="50" dirty="0">
                <a:solidFill>
                  <a:srgbClr val="5F66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vec3 클래스 — 구조와 멤버 연산자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329184"/>
            <a:ext cx="1401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00" dirty="0">
                <a:solidFill>
                  <a:srgbClr val="D2CEC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Ray Tracing in One Weekend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04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Vector3 구조체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965960"/>
            <a:ext cx="4663440" cy="966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길이가 3인 double 배열을 멤버로 가진다. 배열의 0, 1, 2번째는 x, y, z 좌표를 의미한다. 기본 생성 시 원점으로 초기화되고, x, y, z 좌표를 지정해서 생성할 수도 있다. 편리하게 사용할 수 있도록 연산자 오버로딩이 되어 있다.</a:t>
            </a:r>
            <a:endParaRPr lang="en-US" sz="1250" dirty="0"/>
          </a:p>
        </p:txBody>
      </p:sp>
      <p:pic>
        <p:nvPicPr>
          <p:cNvPr id="10" name="Image 0" descr="Vector3 생성자 코드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15056"/>
            <a:ext cx="4663440" cy="813078"/>
          </a:xfrm>
          <a:prstGeom prst="rect">
            <a:avLst/>
          </a:prstGeom>
        </p:spPr>
      </p:pic>
      <p:pic>
        <p:nvPicPr>
          <p:cNvPr id="11" name="Image 1" descr="double E[3] 멤버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037862"/>
            <a:ext cx="1737360" cy="574149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48640" y="4932051"/>
            <a:ext cx="466344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8"/>
          <p:cNvSpPr txBox="1"/>
          <p:nvPr/>
        </p:nvSpPr>
        <p:spPr>
          <a:xfrm>
            <a:off x="548640" y="5041779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Point3 = Vector3;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벡터와 점을 구분하기 위해 정의한다.</a:t>
            </a:r>
            <a:endParaRPr lang="en-US" sz="1150" dirty="0"/>
          </a:p>
        </p:txBody>
      </p:sp>
      <p:sp>
        <p:nvSpPr>
          <p:cNvPr id="14" name="Text 9"/>
          <p:cNvSpPr txBox="1"/>
          <p:nvPr/>
        </p:nvSpPr>
        <p:spPr>
          <a:xfrm>
            <a:off x="57607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kern="0" spc="100" dirty="0">
                <a:solidFill>
                  <a:srgbClr val="5F66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멤버 함수 · 연산자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5760720" y="1938528"/>
            <a:ext cx="5882335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1"/>
          <p:cNvSpPr txBox="1"/>
          <p:nvPr/>
        </p:nvSpPr>
        <p:spPr>
          <a:xfrm>
            <a:off x="5760720" y="2029968"/>
            <a:ext cx="1920240" cy="236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operator-()</a:t>
            </a:r>
            <a:endParaRPr lang="en-US" sz="1150" dirty="0"/>
          </a:p>
        </p:txBody>
      </p:sp>
      <p:sp>
        <p:nvSpPr>
          <p:cNvPr id="17" name="Text 12"/>
          <p:cNvSpPr txBox="1"/>
          <p:nvPr/>
        </p:nvSpPr>
        <p:spPr>
          <a:xfrm>
            <a:off x="7818120" y="2029968"/>
            <a:ext cx="3824935" cy="236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벡터의 각 요소에 −1을 곱한다.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760720" y="2357547"/>
            <a:ext cx="5882335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4"/>
          <p:cNvSpPr txBox="1"/>
          <p:nvPr/>
        </p:nvSpPr>
        <p:spPr>
          <a:xfrm>
            <a:off x="5760720" y="2448987"/>
            <a:ext cx="1920240" cy="236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operator[](int i)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7818120" y="2448987"/>
            <a:ext cx="3824935" cy="236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인자로 들어온 인덱스의 요소를 반환한다.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760720" y="2776565"/>
            <a:ext cx="5882335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7"/>
          <p:cNvSpPr txBox="1"/>
          <p:nvPr/>
        </p:nvSpPr>
        <p:spPr>
          <a:xfrm>
            <a:off x="5760720" y="2868005"/>
            <a:ext cx="1920240" cy="236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operator+=(v)</a:t>
            </a:r>
            <a:endParaRPr lang="en-US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7818120" y="2868005"/>
            <a:ext cx="3824935" cy="236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벡터끼리 += 연산을 할 수 있게 해준다.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5760720" y="3195584"/>
            <a:ext cx="5882335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0"/>
          <p:cNvSpPr txBox="1"/>
          <p:nvPr/>
        </p:nvSpPr>
        <p:spPr>
          <a:xfrm>
            <a:off x="5760720" y="3287024"/>
            <a:ext cx="1920240" cy="236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operator*=(t)</a:t>
            </a:r>
            <a:endParaRPr lang="en-US" sz="1150" dirty="0"/>
          </a:p>
        </p:txBody>
      </p:sp>
      <p:sp>
        <p:nvSpPr>
          <p:cNvPr id="26" name="Text 21"/>
          <p:cNvSpPr txBox="1"/>
          <p:nvPr/>
        </p:nvSpPr>
        <p:spPr>
          <a:xfrm>
            <a:off x="7818120" y="3287024"/>
            <a:ext cx="3824935" cy="236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실수 t와 *= 연산을 할 수 있게 해준다.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5760720" y="3614603"/>
            <a:ext cx="5882335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3"/>
          <p:cNvSpPr txBox="1"/>
          <p:nvPr/>
        </p:nvSpPr>
        <p:spPr>
          <a:xfrm>
            <a:off x="5760720" y="3706043"/>
            <a:ext cx="1920240" cy="435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operator/=(t)</a:t>
            </a:r>
            <a:endParaRPr lang="en-US" sz="1150" dirty="0"/>
          </a:p>
        </p:txBody>
      </p:sp>
      <p:sp>
        <p:nvSpPr>
          <p:cNvPr id="29" name="Text 24"/>
          <p:cNvSpPr txBox="1"/>
          <p:nvPr/>
        </p:nvSpPr>
        <p:spPr>
          <a:xfrm>
            <a:off x="7818120" y="3706043"/>
            <a:ext cx="3824935" cy="435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실수 t와 /= 연산. 위에서 정의한 *= 연산자에 t의 역수를 넘겨 호출한다.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5760720" y="4233184"/>
            <a:ext cx="5882335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6"/>
          <p:cNvSpPr txBox="1"/>
          <p:nvPr/>
        </p:nvSpPr>
        <p:spPr>
          <a:xfrm>
            <a:off x="5760720" y="4324624"/>
            <a:ext cx="1920240" cy="236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Length()</a:t>
            </a:r>
            <a:endParaRPr lang="en-US" sz="1150" dirty="0"/>
          </a:p>
        </p:txBody>
      </p:sp>
      <p:sp>
        <p:nvSpPr>
          <p:cNvPr id="32" name="Text 27"/>
          <p:cNvSpPr txBox="1"/>
          <p:nvPr/>
        </p:nvSpPr>
        <p:spPr>
          <a:xfrm>
            <a:off x="7818120" y="4324624"/>
            <a:ext cx="3824935" cy="236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벡터의 길이를 반환한다.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5760720" y="4652203"/>
            <a:ext cx="5882335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9"/>
          <p:cNvSpPr txBox="1"/>
          <p:nvPr/>
        </p:nvSpPr>
        <p:spPr>
          <a:xfrm>
            <a:off x="5760720" y="4743643"/>
            <a:ext cx="1920240" cy="236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LengthSquared()</a:t>
            </a:r>
            <a:endParaRPr lang="en-US" sz="1150" dirty="0"/>
          </a:p>
        </p:txBody>
      </p:sp>
      <p:sp>
        <p:nvSpPr>
          <p:cNvPr id="35" name="Text 30"/>
          <p:cNvSpPr txBox="1"/>
          <p:nvPr/>
        </p:nvSpPr>
        <p:spPr>
          <a:xfrm>
            <a:off x="7818120" y="4743643"/>
            <a:ext cx="3824935" cy="236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벡터 길이의 제곱 x² + y² + z²을 반환한다.</a:t>
            </a:r>
            <a:endParaRPr lang="en-US" sz="1150" dirty="0"/>
          </a:p>
        </p:txBody>
      </p:sp>
      <p:sp>
        <p:nvSpPr>
          <p:cNvPr id="36" name="Shape 31"/>
          <p:cNvSpPr/>
          <p:nvPr/>
        </p:nvSpPr>
        <p:spPr>
          <a:xfrm>
            <a:off x="5760720" y="5071222"/>
            <a:ext cx="5882335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2"/>
          <p:cNvSpPr txBox="1"/>
          <p:nvPr/>
        </p:nvSpPr>
        <p:spPr>
          <a:xfrm>
            <a:off x="5760720" y="5897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v : const Vector3&amp;   ·   t : double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The vec3 Class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784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kern="0" spc="50" dirty="0">
                <a:solidFill>
                  <a:srgbClr val="5F66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vec3 클래스 — 유틸리티 함수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329184"/>
            <a:ext cx="1401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00" dirty="0">
                <a:solidFill>
                  <a:srgbClr val="D2CEC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Ray Tracing in One Weekend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05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kern="0" spc="100" dirty="0">
                <a:solidFill>
                  <a:srgbClr val="5F66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비멤버 유틸리티 함수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938528"/>
            <a:ext cx="525780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548640" y="2016252"/>
            <a:ext cx="1691640" cy="22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operator&lt;&lt;(out, v)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2377440" y="2016252"/>
            <a:ext cx="3429000" cy="22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cout 등으로 벡터를 출력할 수 있게 해준다.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2321438"/>
            <a:ext cx="525780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548640" y="2399162"/>
            <a:ext cx="1691640" cy="22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operator+(u, v)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2377440" y="2399162"/>
            <a:ext cx="3429000" cy="22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두 벡터의 덧셈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2704348"/>
            <a:ext cx="525780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548640" y="2782072"/>
            <a:ext cx="1691640" cy="22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operator-(u, v)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2377440" y="2782072"/>
            <a:ext cx="3429000" cy="22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두 벡터의 뺄셈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3087258"/>
            <a:ext cx="525780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548640" y="3164982"/>
            <a:ext cx="1691640" cy="22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operator*(u, v)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2377440" y="3164982"/>
            <a:ext cx="3429000" cy="22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두 벡터의 (요소별) 곱셈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" y="3470168"/>
            <a:ext cx="525780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548640" y="3547892"/>
            <a:ext cx="1691640" cy="22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operator*(t, v)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2377440" y="3547892"/>
            <a:ext cx="3429000" cy="22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실수 t와 벡터의 곱셈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48640" y="3853078"/>
            <a:ext cx="525780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 txBox="1"/>
          <p:nvPr/>
        </p:nvSpPr>
        <p:spPr>
          <a:xfrm>
            <a:off x="548640" y="3930802"/>
            <a:ext cx="1691640" cy="22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operator*(v, t)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2377440" y="3930802"/>
            <a:ext cx="3429000" cy="22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순서를 바꾼 경우도 가능하게 했다.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48640" y="4235988"/>
            <a:ext cx="525780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 txBox="1"/>
          <p:nvPr/>
        </p:nvSpPr>
        <p:spPr>
          <a:xfrm>
            <a:off x="548640" y="4313712"/>
            <a:ext cx="1691640" cy="41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operator/(v, t)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2377440" y="4313712"/>
            <a:ext cx="3429000" cy="41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벡터 v를 실수 t로 나눈다. 내부에선 t의 역수를 취하고 operator*를 호출한다.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48640" y="4809785"/>
            <a:ext cx="525780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 txBox="1"/>
          <p:nvPr/>
        </p:nvSpPr>
        <p:spPr>
          <a:xfrm>
            <a:off x="548640" y="4887509"/>
            <a:ext cx="1691640" cy="22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Dot(u, v)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2377440" y="4887509"/>
            <a:ext cx="3429000" cy="22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두 벡터의 내적. 결과는 double 실수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48640" y="5192695"/>
            <a:ext cx="525780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 txBox="1"/>
          <p:nvPr/>
        </p:nvSpPr>
        <p:spPr>
          <a:xfrm>
            <a:off x="548640" y="5270419"/>
            <a:ext cx="1691640" cy="22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Cross(u, v)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2377440" y="5270419"/>
            <a:ext cx="3429000" cy="22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두 벡터의 외적. 결과는 벡터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548640" y="5575605"/>
            <a:ext cx="525780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 txBox="1"/>
          <p:nvPr/>
        </p:nvSpPr>
        <p:spPr>
          <a:xfrm>
            <a:off x="548640" y="5653329"/>
            <a:ext cx="1691640" cy="22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UnitVector(v)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2377440" y="5653329"/>
            <a:ext cx="3429000" cy="22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단위 벡터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548640" y="5958515"/>
            <a:ext cx="525780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7"/>
          <p:cNvSpPr txBox="1"/>
          <p:nvPr/>
        </p:nvSpPr>
        <p:spPr>
          <a:xfrm>
            <a:off x="2743200" y="162763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u, v : const Vector3&amp;   ·   t : double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172200" y="1508760"/>
            <a:ext cx="5470855" cy="4709160"/>
          </a:xfrm>
          <a:prstGeom prst="rect">
            <a:avLst/>
          </a:prstGeom>
          <a:solidFill>
            <a:srgbClr val="F5F5F3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2" name="Image 0" descr="벡터 유틸리티 함수 코드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37360"/>
            <a:ext cx="2514600" cy="2173851"/>
          </a:xfrm>
          <a:prstGeom prst="rect">
            <a:avLst/>
          </a:prstGeom>
        </p:spPr>
      </p:pic>
      <p:pic>
        <p:nvPicPr>
          <p:cNvPr id="43" name="Image 1" descr="벡터 유틸리티 함수 코드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1737360"/>
            <a:ext cx="2331720" cy="2494475"/>
          </a:xfrm>
          <a:prstGeom prst="rect">
            <a:avLst/>
          </a:prstGeom>
        </p:spPr>
      </p:pic>
      <p:sp>
        <p:nvSpPr>
          <p:cNvPr id="44" name="Text 39"/>
          <p:cNvSpPr txBox="1"/>
          <p:nvPr/>
        </p:nvSpPr>
        <p:spPr>
          <a:xfrm>
            <a:off x="6400800" y="58521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벡터의 사칙연산 및 내적 · 외적 계산 설명은 생략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Rays, a Simple Camera and Background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784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kern="0" spc="50" dirty="0">
                <a:solidFill>
                  <a:srgbClr val="5F66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광선, 간단한 카메라, 그리고 배경 — Ray 클래스와 이미지 설정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329184"/>
            <a:ext cx="1401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00" dirty="0">
                <a:solidFill>
                  <a:srgbClr val="D2CEC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04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Ray Tracing in One Weekend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06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48640" y="1600200"/>
            <a:ext cx="274320" cy="274320"/>
          </a:xfrm>
          <a:prstGeom prst="ellipse">
            <a:avLst/>
          </a:prstGeom>
          <a:solidFill>
            <a:srgbClr val="7E857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548640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</a:t>
            </a:r>
            <a:endParaRPr lang="en-US" sz="1080" dirty="0"/>
          </a:p>
        </p:txBody>
      </p:sp>
      <p:sp>
        <p:nvSpPr>
          <p:cNvPr id="10" name="Text 7"/>
          <p:cNvSpPr txBox="1"/>
          <p:nvPr/>
        </p:nvSpPr>
        <p:spPr>
          <a:xfrm>
            <a:off x="932688" y="16093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Ray 클래스</a:t>
            </a:r>
            <a:endParaRPr lang="en-US" sz="1300" dirty="0"/>
          </a:p>
        </p:txBody>
      </p:sp>
      <p:pic>
        <p:nvPicPr>
          <p:cNvPr id="11" name="Image 0" descr="Ray 클래스 코드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3120"/>
            <a:ext cx="2697480" cy="244431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474720" y="2103120"/>
            <a:ext cx="251460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 txBox="1"/>
          <p:nvPr/>
        </p:nvSpPr>
        <p:spPr>
          <a:xfrm>
            <a:off x="3474720" y="2194560"/>
            <a:ext cx="640080" cy="236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mOrig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4251960" y="2194560"/>
            <a:ext cx="1737360" cy="236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광선의 원점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474720" y="2522139"/>
            <a:ext cx="251460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 txBox="1"/>
          <p:nvPr/>
        </p:nvSpPr>
        <p:spPr>
          <a:xfrm>
            <a:off x="3474720" y="2613579"/>
            <a:ext cx="640080" cy="236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mDir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4251960" y="2613579"/>
            <a:ext cx="1737360" cy="236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광선의 방향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3474720" y="2941157"/>
            <a:ext cx="251460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 txBox="1"/>
          <p:nvPr/>
        </p:nvSpPr>
        <p:spPr>
          <a:xfrm>
            <a:off x="3474720" y="3124037"/>
            <a:ext cx="2514600" cy="678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At 함수가 광선을 표현한다고 하면, 매개변수 t의 값에 따라 광선 위를 움직인다고 생각하면 된다.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3474720" y="3984945"/>
            <a:ext cx="2514600" cy="566928"/>
          </a:xfrm>
          <a:prstGeom prst="rect">
            <a:avLst/>
          </a:prstGeom>
          <a:solidFill>
            <a:srgbClr val="F3F1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 txBox="1"/>
          <p:nvPr/>
        </p:nvSpPr>
        <p:spPr>
          <a:xfrm>
            <a:off x="3474720" y="3984945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P(t) = mOrig + t · mDir</a:t>
            </a:r>
            <a:endParaRPr 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6355080" y="1600200"/>
            <a:ext cx="274320" cy="274320"/>
          </a:xfrm>
          <a:prstGeom prst="ellipse">
            <a:avLst/>
          </a:prstGeom>
          <a:solidFill>
            <a:srgbClr val="7E857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9"/>
          <p:cNvSpPr txBox="1"/>
          <p:nvPr/>
        </p:nvSpPr>
        <p:spPr>
          <a:xfrm>
            <a:off x="6355080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</a:t>
            </a:r>
            <a:endParaRPr lang="en-US" sz="1080" dirty="0"/>
          </a:p>
        </p:txBody>
      </p:sp>
      <p:sp>
        <p:nvSpPr>
          <p:cNvPr id="24" name="Text 20"/>
          <p:cNvSpPr txBox="1"/>
          <p:nvPr/>
        </p:nvSpPr>
        <p:spPr>
          <a:xfrm>
            <a:off x="6739128" y="16093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이미지 설정</a:t>
            </a:r>
            <a:endParaRPr lang="en-US" sz="1300" dirty="0"/>
          </a:p>
        </p:txBody>
      </p:sp>
      <p:pic>
        <p:nvPicPr>
          <p:cNvPr id="25" name="Image 1" descr="이미지 크기 계산 코드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103120"/>
            <a:ext cx="5287975" cy="1649695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6355080" y="3981415"/>
            <a:ext cx="5287975" cy="678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렌더링에 사용될 이미지를 정의한다. 일반적인 비율인 16:9를 사용한다. 값을 바꿔도 비율을 일정하게 유지할 수 있도록 너비를 먼저 정의한 후 높이를 계산한다. 이때 높이의 최소값이 1이 되도록 한다.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6858000" y="4979482"/>
            <a:ext cx="2194560" cy="1234440"/>
          </a:xfrm>
          <a:prstGeom prst="rect">
            <a:avLst/>
          </a:prstGeom>
          <a:solidFill>
            <a:srgbClr val="F3F1E5"/>
          </a:solidFill>
          <a:ln w="12700">
            <a:solidFill>
              <a:srgbClr val="A8AEA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3"/>
          <p:cNvSpPr txBox="1"/>
          <p:nvPr/>
        </p:nvSpPr>
        <p:spPr>
          <a:xfrm>
            <a:off x="6858000" y="4979482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5F665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16 : 9</a:t>
            </a:r>
            <a:endParaRPr lang="en-US" sz="1600" dirty="0"/>
          </a:p>
        </p:txBody>
      </p:sp>
      <p:sp>
        <p:nvSpPr>
          <p:cNvPr id="29" name="Text 24"/>
          <p:cNvSpPr txBox="1"/>
          <p:nvPr/>
        </p:nvSpPr>
        <p:spPr>
          <a:xfrm>
            <a:off x="6858000" y="470516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imageWidth = 400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9235440" y="536810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imageHeight = 400 / (16/9) = 225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Rays, a Simple Camera and Background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784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kern="0" spc="50" dirty="0">
                <a:solidFill>
                  <a:srgbClr val="5F66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광선, 간단한 카메라, 그리고 배경 — 카메라와 뷰포트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329184"/>
            <a:ext cx="1401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00" dirty="0">
                <a:solidFill>
                  <a:srgbClr val="D2CEC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04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Ray Tracing in One Weekend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07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484632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548640" y="16184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1.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168249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뷰포트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1960245"/>
            <a:ext cx="4389120" cy="44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카메라와 뷰포트를 설정한다. 뷰포트는 픽셀을 포함하며 광선이 통과하는 가상의 직사각형이다.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2552941"/>
            <a:ext cx="484632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548640" y="2616949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2.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2680957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같은 종횡비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2958706"/>
            <a:ext cx="4389120" cy="44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픽셀이 가로와 세로로 동일한 간격을 가지면 뷰포트와 렌더링된 이미지는 같은 종횡비를 가진다.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551403"/>
            <a:ext cx="484632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548640" y="3615411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3.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" y="3679419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높이 먼저, 너비는 계산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005840" y="3957168"/>
            <a:ext cx="4389120" cy="241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이미지와 동일하게 뷰포트도 먼저 높이를 설정하고 너비를 계산한다.</a:t>
            </a:r>
            <a:endParaRPr lang="en-US" sz="1150" dirty="0"/>
          </a:p>
        </p:txBody>
      </p:sp>
      <p:pic>
        <p:nvPicPr>
          <p:cNvPr id="20" name="Image 0" descr="카메라·뷰포트 설정 코드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390676"/>
            <a:ext cx="3977622" cy="1827244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6858000" y="2331720"/>
            <a:ext cx="512064" cy="512064"/>
          </a:xfrm>
          <a:prstGeom prst="rect">
            <a:avLst/>
          </a:prstGeom>
          <a:solidFill>
            <a:srgbClr val="F3F1E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8"/>
          <p:cNvSpPr/>
          <p:nvPr/>
        </p:nvSpPr>
        <p:spPr>
          <a:xfrm>
            <a:off x="7370064" y="2331720"/>
            <a:ext cx="512064" cy="512064"/>
          </a:xfrm>
          <a:prstGeom prst="rect">
            <a:avLst/>
          </a:prstGeom>
          <a:solidFill>
            <a:srgbClr val="D2CEC4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7882128" y="2331720"/>
            <a:ext cx="512064" cy="512064"/>
          </a:xfrm>
          <a:prstGeom prst="rect">
            <a:avLst/>
          </a:prstGeom>
          <a:solidFill>
            <a:srgbClr val="F3F1E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8394192" y="2331720"/>
            <a:ext cx="512064" cy="512064"/>
          </a:xfrm>
          <a:prstGeom prst="rect">
            <a:avLst/>
          </a:prstGeom>
          <a:solidFill>
            <a:srgbClr val="D2CEC4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1"/>
          <p:cNvSpPr/>
          <p:nvPr/>
        </p:nvSpPr>
        <p:spPr>
          <a:xfrm>
            <a:off x="8906256" y="2331720"/>
            <a:ext cx="512064" cy="512064"/>
          </a:xfrm>
          <a:prstGeom prst="rect">
            <a:avLst/>
          </a:prstGeom>
          <a:solidFill>
            <a:srgbClr val="F3F1E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2"/>
          <p:cNvSpPr/>
          <p:nvPr/>
        </p:nvSpPr>
        <p:spPr>
          <a:xfrm>
            <a:off x="9418320" y="2331720"/>
            <a:ext cx="512064" cy="512064"/>
          </a:xfrm>
          <a:prstGeom prst="rect">
            <a:avLst/>
          </a:prstGeom>
          <a:solidFill>
            <a:srgbClr val="D2CEC4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3"/>
          <p:cNvSpPr/>
          <p:nvPr/>
        </p:nvSpPr>
        <p:spPr>
          <a:xfrm>
            <a:off x="9930384" y="2331720"/>
            <a:ext cx="512064" cy="512064"/>
          </a:xfrm>
          <a:prstGeom prst="rect">
            <a:avLst/>
          </a:prstGeom>
          <a:solidFill>
            <a:srgbClr val="F3F1E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4"/>
          <p:cNvSpPr/>
          <p:nvPr/>
        </p:nvSpPr>
        <p:spPr>
          <a:xfrm>
            <a:off x="10442448" y="2331720"/>
            <a:ext cx="512064" cy="512064"/>
          </a:xfrm>
          <a:prstGeom prst="rect">
            <a:avLst/>
          </a:prstGeom>
          <a:solidFill>
            <a:srgbClr val="D2CEC4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5"/>
          <p:cNvSpPr/>
          <p:nvPr/>
        </p:nvSpPr>
        <p:spPr>
          <a:xfrm>
            <a:off x="6858000" y="2843784"/>
            <a:ext cx="512064" cy="512064"/>
          </a:xfrm>
          <a:prstGeom prst="rect">
            <a:avLst/>
          </a:prstGeom>
          <a:solidFill>
            <a:srgbClr val="D2CEC4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6"/>
          <p:cNvSpPr/>
          <p:nvPr/>
        </p:nvSpPr>
        <p:spPr>
          <a:xfrm>
            <a:off x="7370064" y="2843784"/>
            <a:ext cx="512064" cy="512064"/>
          </a:xfrm>
          <a:prstGeom prst="rect">
            <a:avLst/>
          </a:prstGeom>
          <a:solidFill>
            <a:srgbClr val="F3F1E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7"/>
          <p:cNvSpPr/>
          <p:nvPr/>
        </p:nvSpPr>
        <p:spPr>
          <a:xfrm>
            <a:off x="7882128" y="2843784"/>
            <a:ext cx="512064" cy="512064"/>
          </a:xfrm>
          <a:prstGeom prst="rect">
            <a:avLst/>
          </a:prstGeom>
          <a:solidFill>
            <a:srgbClr val="D2CEC4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8"/>
          <p:cNvSpPr/>
          <p:nvPr/>
        </p:nvSpPr>
        <p:spPr>
          <a:xfrm>
            <a:off x="8394192" y="2843784"/>
            <a:ext cx="512064" cy="512064"/>
          </a:xfrm>
          <a:prstGeom prst="rect">
            <a:avLst/>
          </a:prstGeom>
          <a:solidFill>
            <a:srgbClr val="F3F1E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9"/>
          <p:cNvSpPr/>
          <p:nvPr/>
        </p:nvSpPr>
        <p:spPr>
          <a:xfrm>
            <a:off x="8906256" y="2843784"/>
            <a:ext cx="512064" cy="512064"/>
          </a:xfrm>
          <a:prstGeom prst="rect">
            <a:avLst/>
          </a:prstGeom>
          <a:solidFill>
            <a:srgbClr val="D2CEC4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0"/>
          <p:cNvSpPr/>
          <p:nvPr/>
        </p:nvSpPr>
        <p:spPr>
          <a:xfrm>
            <a:off x="9418320" y="2843784"/>
            <a:ext cx="512064" cy="512064"/>
          </a:xfrm>
          <a:prstGeom prst="rect">
            <a:avLst/>
          </a:prstGeom>
          <a:solidFill>
            <a:srgbClr val="F3F1E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1"/>
          <p:cNvSpPr/>
          <p:nvPr/>
        </p:nvSpPr>
        <p:spPr>
          <a:xfrm>
            <a:off x="9930384" y="2843784"/>
            <a:ext cx="512064" cy="512064"/>
          </a:xfrm>
          <a:prstGeom prst="rect">
            <a:avLst/>
          </a:prstGeom>
          <a:solidFill>
            <a:srgbClr val="D2CEC4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2"/>
          <p:cNvSpPr/>
          <p:nvPr/>
        </p:nvSpPr>
        <p:spPr>
          <a:xfrm>
            <a:off x="10442448" y="2843784"/>
            <a:ext cx="512064" cy="512064"/>
          </a:xfrm>
          <a:prstGeom prst="rect">
            <a:avLst/>
          </a:prstGeom>
          <a:solidFill>
            <a:srgbClr val="F3F1E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3"/>
          <p:cNvSpPr/>
          <p:nvPr/>
        </p:nvSpPr>
        <p:spPr>
          <a:xfrm>
            <a:off x="6858000" y="3355848"/>
            <a:ext cx="512064" cy="512064"/>
          </a:xfrm>
          <a:prstGeom prst="rect">
            <a:avLst/>
          </a:prstGeom>
          <a:solidFill>
            <a:srgbClr val="F3F1E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4"/>
          <p:cNvSpPr/>
          <p:nvPr/>
        </p:nvSpPr>
        <p:spPr>
          <a:xfrm>
            <a:off x="7370064" y="3355848"/>
            <a:ext cx="512064" cy="512064"/>
          </a:xfrm>
          <a:prstGeom prst="rect">
            <a:avLst/>
          </a:prstGeom>
          <a:solidFill>
            <a:srgbClr val="D2CEC4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5"/>
          <p:cNvSpPr/>
          <p:nvPr/>
        </p:nvSpPr>
        <p:spPr>
          <a:xfrm>
            <a:off x="7882128" y="3355848"/>
            <a:ext cx="512064" cy="512064"/>
          </a:xfrm>
          <a:prstGeom prst="rect">
            <a:avLst/>
          </a:prstGeom>
          <a:solidFill>
            <a:srgbClr val="F3F1E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6"/>
          <p:cNvSpPr/>
          <p:nvPr/>
        </p:nvSpPr>
        <p:spPr>
          <a:xfrm>
            <a:off x="8394192" y="3355848"/>
            <a:ext cx="512064" cy="512064"/>
          </a:xfrm>
          <a:prstGeom prst="rect">
            <a:avLst/>
          </a:prstGeom>
          <a:solidFill>
            <a:srgbClr val="D2CEC4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7"/>
          <p:cNvSpPr/>
          <p:nvPr/>
        </p:nvSpPr>
        <p:spPr>
          <a:xfrm>
            <a:off x="8906256" y="3355848"/>
            <a:ext cx="512064" cy="512064"/>
          </a:xfrm>
          <a:prstGeom prst="rect">
            <a:avLst/>
          </a:prstGeom>
          <a:solidFill>
            <a:srgbClr val="F3F1E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8"/>
          <p:cNvSpPr/>
          <p:nvPr/>
        </p:nvSpPr>
        <p:spPr>
          <a:xfrm>
            <a:off x="9418320" y="3355848"/>
            <a:ext cx="512064" cy="512064"/>
          </a:xfrm>
          <a:prstGeom prst="rect">
            <a:avLst/>
          </a:prstGeom>
          <a:solidFill>
            <a:srgbClr val="D2CEC4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9"/>
          <p:cNvSpPr/>
          <p:nvPr/>
        </p:nvSpPr>
        <p:spPr>
          <a:xfrm>
            <a:off x="9930384" y="3355848"/>
            <a:ext cx="512064" cy="512064"/>
          </a:xfrm>
          <a:prstGeom prst="rect">
            <a:avLst/>
          </a:prstGeom>
          <a:solidFill>
            <a:srgbClr val="F3F1E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0"/>
          <p:cNvSpPr/>
          <p:nvPr/>
        </p:nvSpPr>
        <p:spPr>
          <a:xfrm>
            <a:off x="10442448" y="3355848"/>
            <a:ext cx="512064" cy="512064"/>
          </a:xfrm>
          <a:prstGeom prst="rect">
            <a:avLst/>
          </a:prstGeom>
          <a:solidFill>
            <a:srgbClr val="D2CEC4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1"/>
          <p:cNvSpPr/>
          <p:nvPr/>
        </p:nvSpPr>
        <p:spPr>
          <a:xfrm>
            <a:off x="6858000" y="3867912"/>
            <a:ext cx="512064" cy="512064"/>
          </a:xfrm>
          <a:prstGeom prst="rect">
            <a:avLst/>
          </a:prstGeom>
          <a:solidFill>
            <a:srgbClr val="D2CEC4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2"/>
          <p:cNvSpPr/>
          <p:nvPr/>
        </p:nvSpPr>
        <p:spPr>
          <a:xfrm>
            <a:off x="7370064" y="3867912"/>
            <a:ext cx="512064" cy="512064"/>
          </a:xfrm>
          <a:prstGeom prst="rect">
            <a:avLst/>
          </a:prstGeom>
          <a:solidFill>
            <a:srgbClr val="F3F1E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3"/>
          <p:cNvSpPr/>
          <p:nvPr/>
        </p:nvSpPr>
        <p:spPr>
          <a:xfrm>
            <a:off x="7882128" y="3867912"/>
            <a:ext cx="512064" cy="512064"/>
          </a:xfrm>
          <a:prstGeom prst="rect">
            <a:avLst/>
          </a:prstGeom>
          <a:solidFill>
            <a:srgbClr val="D2CEC4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4"/>
          <p:cNvSpPr/>
          <p:nvPr/>
        </p:nvSpPr>
        <p:spPr>
          <a:xfrm>
            <a:off x="8394192" y="3867912"/>
            <a:ext cx="512064" cy="512064"/>
          </a:xfrm>
          <a:prstGeom prst="rect">
            <a:avLst/>
          </a:prstGeom>
          <a:solidFill>
            <a:srgbClr val="F3F1E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5"/>
          <p:cNvSpPr/>
          <p:nvPr/>
        </p:nvSpPr>
        <p:spPr>
          <a:xfrm>
            <a:off x="8906256" y="3867912"/>
            <a:ext cx="512064" cy="512064"/>
          </a:xfrm>
          <a:prstGeom prst="rect">
            <a:avLst/>
          </a:prstGeom>
          <a:solidFill>
            <a:srgbClr val="D2CEC4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6"/>
          <p:cNvSpPr/>
          <p:nvPr/>
        </p:nvSpPr>
        <p:spPr>
          <a:xfrm>
            <a:off x="9418320" y="3867912"/>
            <a:ext cx="512064" cy="512064"/>
          </a:xfrm>
          <a:prstGeom prst="rect">
            <a:avLst/>
          </a:prstGeom>
          <a:solidFill>
            <a:srgbClr val="F3F1E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7"/>
          <p:cNvSpPr/>
          <p:nvPr/>
        </p:nvSpPr>
        <p:spPr>
          <a:xfrm>
            <a:off x="9930384" y="3867912"/>
            <a:ext cx="512064" cy="512064"/>
          </a:xfrm>
          <a:prstGeom prst="rect">
            <a:avLst/>
          </a:prstGeom>
          <a:solidFill>
            <a:srgbClr val="D2CEC4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48"/>
          <p:cNvSpPr/>
          <p:nvPr/>
        </p:nvSpPr>
        <p:spPr>
          <a:xfrm>
            <a:off x="10442448" y="3867912"/>
            <a:ext cx="512064" cy="512064"/>
          </a:xfrm>
          <a:prstGeom prst="rect">
            <a:avLst/>
          </a:prstGeom>
          <a:solidFill>
            <a:srgbClr val="F3F1E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49"/>
          <p:cNvSpPr/>
          <p:nvPr/>
        </p:nvSpPr>
        <p:spPr>
          <a:xfrm>
            <a:off x="6858000" y="2331720"/>
            <a:ext cx="4096512" cy="2048256"/>
          </a:xfrm>
          <a:prstGeom prst="rect">
            <a:avLst/>
          </a:prstGeom>
          <a:ln w="12700">
            <a:solidFill>
              <a:srgbClr val="5F66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0"/>
          <p:cNvSpPr/>
          <p:nvPr/>
        </p:nvSpPr>
        <p:spPr>
          <a:xfrm>
            <a:off x="7045452" y="2519172"/>
            <a:ext cx="137160" cy="137160"/>
          </a:xfrm>
          <a:prstGeom prst="ellipse">
            <a:avLst/>
          </a:prstGeom>
          <a:solidFill>
            <a:srgbClr val="C8744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1"/>
          <p:cNvSpPr/>
          <p:nvPr/>
        </p:nvSpPr>
        <p:spPr>
          <a:xfrm>
            <a:off x="7587234" y="2548890"/>
            <a:ext cx="77724" cy="77724"/>
          </a:xfrm>
          <a:prstGeom prst="ellipse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2"/>
          <p:cNvSpPr/>
          <p:nvPr/>
        </p:nvSpPr>
        <p:spPr>
          <a:xfrm>
            <a:off x="8099298" y="2548890"/>
            <a:ext cx="77724" cy="77724"/>
          </a:xfrm>
          <a:prstGeom prst="ellipse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3"/>
          <p:cNvSpPr/>
          <p:nvPr/>
        </p:nvSpPr>
        <p:spPr>
          <a:xfrm>
            <a:off x="8611362" y="2548890"/>
            <a:ext cx="77724" cy="77724"/>
          </a:xfrm>
          <a:prstGeom prst="ellipse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4"/>
          <p:cNvSpPr/>
          <p:nvPr/>
        </p:nvSpPr>
        <p:spPr>
          <a:xfrm>
            <a:off x="9123426" y="2548890"/>
            <a:ext cx="77724" cy="77724"/>
          </a:xfrm>
          <a:prstGeom prst="ellipse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5"/>
          <p:cNvSpPr/>
          <p:nvPr/>
        </p:nvSpPr>
        <p:spPr>
          <a:xfrm>
            <a:off x="9635490" y="2548890"/>
            <a:ext cx="77724" cy="77724"/>
          </a:xfrm>
          <a:prstGeom prst="ellipse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6"/>
          <p:cNvSpPr/>
          <p:nvPr/>
        </p:nvSpPr>
        <p:spPr>
          <a:xfrm>
            <a:off x="10147554" y="2548890"/>
            <a:ext cx="77724" cy="77724"/>
          </a:xfrm>
          <a:prstGeom prst="ellipse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7"/>
          <p:cNvSpPr/>
          <p:nvPr/>
        </p:nvSpPr>
        <p:spPr>
          <a:xfrm>
            <a:off x="10659618" y="2548890"/>
            <a:ext cx="77724" cy="77724"/>
          </a:xfrm>
          <a:prstGeom prst="ellipse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58"/>
          <p:cNvSpPr/>
          <p:nvPr/>
        </p:nvSpPr>
        <p:spPr>
          <a:xfrm>
            <a:off x="7075170" y="3060954"/>
            <a:ext cx="77724" cy="77724"/>
          </a:xfrm>
          <a:prstGeom prst="ellipse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59"/>
          <p:cNvSpPr/>
          <p:nvPr/>
        </p:nvSpPr>
        <p:spPr>
          <a:xfrm>
            <a:off x="7587234" y="3060954"/>
            <a:ext cx="77724" cy="77724"/>
          </a:xfrm>
          <a:prstGeom prst="ellipse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0"/>
          <p:cNvSpPr/>
          <p:nvPr/>
        </p:nvSpPr>
        <p:spPr>
          <a:xfrm>
            <a:off x="8099298" y="3060954"/>
            <a:ext cx="77724" cy="77724"/>
          </a:xfrm>
          <a:prstGeom prst="ellipse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1"/>
          <p:cNvSpPr/>
          <p:nvPr/>
        </p:nvSpPr>
        <p:spPr>
          <a:xfrm>
            <a:off x="8611362" y="3060954"/>
            <a:ext cx="77724" cy="77724"/>
          </a:xfrm>
          <a:prstGeom prst="ellipse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2"/>
          <p:cNvSpPr/>
          <p:nvPr/>
        </p:nvSpPr>
        <p:spPr>
          <a:xfrm>
            <a:off x="9123426" y="3060954"/>
            <a:ext cx="77724" cy="77724"/>
          </a:xfrm>
          <a:prstGeom prst="ellipse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3"/>
          <p:cNvSpPr/>
          <p:nvPr/>
        </p:nvSpPr>
        <p:spPr>
          <a:xfrm>
            <a:off x="9635490" y="3060954"/>
            <a:ext cx="77724" cy="77724"/>
          </a:xfrm>
          <a:prstGeom prst="ellipse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4"/>
          <p:cNvSpPr/>
          <p:nvPr/>
        </p:nvSpPr>
        <p:spPr>
          <a:xfrm>
            <a:off x="10147554" y="3060954"/>
            <a:ext cx="77724" cy="77724"/>
          </a:xfrm>
          <a:prstGeom prst="ellipse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5"/>
          <p:cNvSpPr/>
          <p:nvPr/>
        </p:nvSpPr>
        <p:spPr>
          <a:xfrm>
            <a:off x="10659618" y="3060954"/>
            <a:ext cx="77724" cy="77724"/>
          </a:xfrm>
          <a:prstGeom prst="ellipse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6"/>
          <p:cNvSpPr/>
          <p:nvPr/>
        </p:nvSpPr>
        <p:spPr>
          <a:xfrm>
            <a:off x="7075170" y="3573018"/>
            <a:ext cx="77724" cy="77724"/>
          </a:xfrm>
          <a:prstGeom prst="ellipse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7"/>
          <p:cNvSpPr/>
          <p:nvPr/>
        </p:nvSpPr>
        <p:spPr>
          <a:xfrm>
            <a:off x="7587234" y="3573018"/>
            <a:ext cx="77724" cy="77724"/>
          </a:xfrm>
          <a:prstGeom prst="ellipse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68"/>
          <p:cNvSpPr/>
          <p:nvPr/>
        </p:nvSpPr>
        <p:spPr>
          <a:xfrm>
            <a:off x="8099298" y="3573018"/>
            <a:ext cx="77724" cy="77724"/>
          </a:xfrm>
          <a:prstGeom prst="ellipse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69"/>
          <p:cNvSpPr/>
          <p:nvPr/>
        </p:nvSpPr>
        <p:spPr>
          <a:xfrm>
            <a:off x="8611362" y="3573018"/>
            <a:ext cx="77724" cy="77724"/>
          </a:xfrm>
          <a:prstGeom prst="ellipse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0"/>
          <p:cNvSpPr/>
          <p:nvPr/>
        </p:nvSpPr>
        <p:spPr>
          <a:xfrm>
            <a:off x="9123426" y="3573018"/>
            <a:ext cx="77724" cy="77724"/>
          </a:xfrm>
          <a:prstGeom prst="ellipse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1"/>
          <p:cNvSpPr/>
          <p:nvPr/>
        </p:nvSpPr>
        <p:spPr>
          <a:xfrm>
            <a:off x="9635490" y="3573018"/>
            <a:ext cx="77724" cy="77724"/>
          </a:xfrm>
          <a:prstGeom prst="ellipse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2"/>
          <p:cNvSpPr/>
          <p:nvPr/>
        </p:nvSpPr>
        <p:spPr>
          <a:xfrm>
            <a:off x="10147554" y="3573018"/>
            <a:ext cx="77724" cy="77724"/>
          </a:xfrm>
          <a:prstGeom prst="ellipse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3"/>
          <p:cNvSpPr/>
          <p:nvPr/>
        </p:nvSpPr>
        <p:spPr>
          <a:xfrm>
            <a:off x="10659618" y="3573018"/>
            <a:ext cx="77724" cy="77724"/>
          </a:xfrm>
          <a:prstGeom prst="ellipse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4"/>
          <p:cNvSpPr/>
          <p:nvPr/>
        </p:nvSpPr>
        <p:spPr>
          <a:xfrm>
            <a:off x="7075170" y="4085082"/>
            <a:ext cx="77724" cy="77724"/>
          </a:xfrm>
          <a:prstGeom prst="ellipse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5"/>
          <p:cNvSpPr/>
          <p:nvPr/>
        </p:nvSpPr>
        <p:spPr>
          <a:xfrm>
            <a:off x="7587234" y="4085082"/>
            <a:ext cx="77724" cy="77724"/>
          </a:xfrm>
          <a:prstGeom prst="ellipse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6"/>
          <p:cNvSpPr/>
          <p:nvPr/>
        </p:nvSpPr>
        <p:spPr>
          <a:xfrm>
            <a:off x="8099298" y="4085082"/>
            <a:ext cx="77724" cy="77724"/>
          </a:xfrm>
          <a:prstGeom prst="ellipse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7"/>
          <p:cNvSpPr/>
          <p:nvPr/>
        </p:nvSpPr>
        <p:spPr>
          <a:xfrm>
            <a:off x="8611362" y="4085082"/>
            <a:ext cx="77724" cy="77724"/>
          </a:xfrm>
          <a:prstGeom prst="ellipse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78"/>
          <p:cNvSpPr/>
          <p:nvPr/>
        </p:nvSpPr>
        <p:spPr>
          <a:xfrm>
            <a:off x="9123426" y="4085082"/>
            <a:ext cx="77724" cy="77724"/>
          </a:xfrm>
          <a:prstGeom prst="ellipse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Shape 79"/>
          <p:cNvSpPr/>
          <p:nvPr/>
        </p:nvSpPr>
        <p:spPr>
          <a:xfrm>
            <a:off x="9635490" y="4085082"/>
            <a:ext cx="77724" cy="77724"/>
          </a:xfrm>
          <a:prstGeom prst="ellipse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" name="Shape 80"/>
          <p:cNvSpPr/>
          <p:nvPr/>
        </p:nvSpPr>
        <p:spPr>
          <a:xfrm>
            <a:off x="10147554" y="4085082"/>
            <a:ext cx="77724" cy="77724"/>
          </a:xfrm>
          <a:prstGeom prst="ellipse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" name="Shape 81"/>
          <p:cNvSpPr/>
          <p:nvPr/>
        </p:nvSpPr>
        <p:spPr>
          <a:xfrm>
            <a:off x="10659618" y="4085082"/>
            <a:ext cx="77724" cy="77724"/>
          </a:xfrm>
          <a:prstGeom prst="ellipse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Shape 82"/>
          <p:cNvSpPr/>
          <p:nvPr/>
        </p:nvSpPr>
        <p:spPr>
          <a:xfrm>
            <a:off x="6775704" y="2249424"/>
            <a:ext cx="164592" cy="16459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C874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Shape 83"/>
          <p:cNvSpPr/>
          <p:nvPr/>
        </p:nvSpPr>
        <p:spPr>
          <a:xfrm>
            <a:off x="6858000" y="2057400"/>
            <a:ext cx="4096512" cy="0"/>
          </a:xfrm>
          <a:prstGeom prst="line">
            <a:avLst/>
          </a:prstGeom>
          <a:noFill/>
          <a:ln w="15875">
            <a:solidFill>
              <a:srgbClr val="5F665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4"/>
          <p:cNvSpPr txBox="1"/>
          <p:nvPr/>
        </p:nvSpPr>
        <p:spPr>
          <a:xfrm>
            <a:off x="6858000" y="1709928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viewportU</a:t>
            </a:r>
            <a:endParaRPr lang="en-US" sz="1100" dirty="0"/>
          </a:p>
        </p:txBody>
      </p:sp>
      <p:sp>
        <p:nvSpPr>
          <p:cNvPr id="89" name="Shape 85"/>
          <p:cNvSpPr/>
          <p:nvPr/>
        </p:nvSpPr>
        <p:spPr>
          <a:xfrm>
            <a:off x="11210544" y="2331720"/>
            <a:ext cx="0" cy="2048256"/>
          </a:xfrm>
          <a:prstGeom prst="line">
            <a:avLst/>
          </a:prstGeom>
          <a:noFill/>
          <a:ln w="15875">
            <a:solidFill>
              <a:srgbClr val="5F665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Text 86"/>
          <p:cNvSpPr txBox="1"/>
          <p:nvPr/>
        </p:nvSpPr>
        <p:spPr>
          <a:xfrm rot="5400000">
            <a:off x="10680192" y="32186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viewportV</a:t>
            </a:r>
            <a:endParaRPr lang="en-US" sz="1100" dirty="0"/>
          </a:p>
        </p:txBody>
      </p:sp>
      <p:sp>
        <p:nvSpPr>
          <p:cNvPr id="91" name="Shape 87"/>
          <p:cNvSpPr/>
          <p:nvPr/>
        </p:nvSpPr>
        <p:spPr>
          <a:xfrm>
            <a:off x="7114032" y="4562856"/>
            <a:ext cx="512064" cy="0"/>
          </a:xfrm>
          <a:prstGeom prst="line">
            <a:avLst/>
          </a:prstGeom>
          <a:noFill/>
          <a:ln w="15875">
            <a:solidFill>
              <a:srgbClr val="C8744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Text 88"/>
          <p:cNvSpPr txBox="1"/>
          <p:nvPr/>
        </p:nvSpPr>
        <p:spPr>
          <a:xfrm>
            <a:off x="7114032" y="4626864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Δu</a:t>
            </a:r>
            <a:endParaRPr lang="en-US" sz="1100" dirty="0"/>
          </a:p>
        </p:txBody>
      </p:sp>
      <p:sp>
        <p:nvSpPr>
          <p:cNvPr id="93" name="Shape 89"/>
          <p:cNvSpPr/>
          <p:nvPr/>
        </p:nvSpPr>
        <p:spPr>
          <a:xfrm>
            <a:off x="6675120" y="2587752"/>
            <a:ext cx="0" cy="512064"/>
          </a:xfrm>
          <a:prstGeom prst="line">
            <a:avLst/>
          </a:prstGeom>
          <a:noFill/>
          <a:ln w="15875">
            <a:solidFill>
              <a:srgbClr val="C8744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Text 90"/>
          <p:cNvSpPr txBox="1"/>
          <p:nvPr/>
        </p:nvSpPr>
        <p:spPr>
          <a:xfrm>
            <a:off x="6291072" y="2715768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Δv</a:t>
            </a:r>
            <a:endParaRPr lang="en-US" sz="1100" dirty="0"/>
          </a:p>
        </p:txBody>
      </p:sp>
      <p:sp>
        <p:nvSpPr>
          <p:cNvPr id="95" name="Shape 91"/>
          <p:cNvSpPr/>
          <p:nvPr/>
        </p:nvSpPr>
        <p:spPr>
          <a:xfrm>
            <a:off x="6876288" y="4937760"/>
            <a:ext cx="146304" cy="14630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C874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6" name="Text 92"/>
          <p:cNvSpPr txBox="1"/>
          <p:nvPr/>
        </p:nvSpPr>
        <p:spPr>
          <a:xfrm>
            <a:off x="7178040" y="489204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viewportUpperLeft</a:t>
            </a:r>
            <a:r>
              <a:rPr lang="en-US" sz="10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  뷰포트 왼쪽 위 모서리</a:t>
            </a:r>
            <a:endParaRPr lang="en-US" sz="1050" dirty="0"/>
          </a:p>
        </p:txBody>
      </p:sp>
      <p:sp>
        <p:nvSpPr>
          <p:cNvPr id="97" name="Shape 93"/>
          <p:cNvSpPr/>
          <p:nvPr/>
        </p:nvSpPr>
        <p:spPr>
          <a:xfrm>
            <a:off x="6880860" y="5308092"/>
            <a:ext cx="137160" cy="137160"/>
          </a:xfrm>
          <a:prstGeom prst="ellipse">
            <a:avLst/>
          </a:prstGeom>
          <a:solidFill>
            <a:srgbClr val="C8744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" name="Text 94"/>
          <p:cNvSpPr txBox="1"/>
          <p:nvPr/>
        </p:nvSpPr>
        <p:spPr>
          <a:xfrm>
            <a:off x="7178040" y="525780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pixel00Loc</a:t>
            </a:r>
            <a:r>
              <a:rPr lang="en-US" sz="10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  (0, 0) 픽셀 중심 = upperLeft + 0.5 · (Δu + Δv)</a:t>
            </a:r>
            <a:endParaRPr lang="en-US" sz="1050" dirty="0"/>
          </a:p>
        </p:txBody>
      </p:sp>
      <p:sp>
        <p:nvSpPr>
          <p:cNvPr id="99" name="Shape 95"/>
          <p:cNvSpPr/>
          <p:nvPr/>
        </p:nvSpPr>
        <p:spPr>
          <a:xfrm>
            <a:off x="6876288" y="5641848"/>
            <a:ext cx="155448" cy="155448"/>
          </a:xfrm>
          <a:prstGeom prst="rect">
            <a:avLst/>
          </a:prstGeom>
          <a:solidFill>
            <a:srgbClr val="D2CE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" name="Text 96"/>
          <p:cNvSpPr txBox="1"/>
          <p:nvPr/>
        </p:nvSpPr>
        <p:spPr>
          <a:xfrm>
            <a:off x="7178040" y="562356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픽셀</a:t>
            </a:r>
            <a:endParaRPr lang="en-US" sz="1050" dirty="0"/>
          </a:p>
        </p:txBody>
      </p:sp>
      <p:sp>
        <p:nvSpPr>
          <p:cNvPr id="101" name="Shape 97"/>
          <p:cNvSpPr/>
          <p:nvPr/>
        </p:nvSpPr>
        <p:spPr>
          <a:xfrm>
            <a:off x="7955280" y="5678424"/>
            <a:ext cx="82296" cy="82296"/>
          </a:xfrm>
          <a:prstGeom prst="ellipse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" name="Text 98"/>
          <p:cNvSpPr txBox="1"/>
          <p:nvPr/>
        </p:nvSpPr>
        <p:spPr>
          <a:xfrm>
            <a:off x="8138160" y="56235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픽셀 중심</a:t>
            </a:r>
            <a:endParaRPr lang="en-US" sz="1050" dirty="0"/>
          </a:p>
        </p:txBody>
      </p:sp>
      <p:sp>
        <p:nvSpPr>
          <p:cNvPr id="103" name="Shape 99"/>
          <p:cNvSpPr/>
          <p:nvPr/>
        </p:nvSpPr>
        <p:spPr>
          <a:xfrm flipV="1">
            <a:off x="5897880" y="5303520"/>
            <a:ext cx="0" cy="685800"/>
          </a:xfrm>
          <a:prstGeom prst="line">
            <a:avLst/>
          </a:prstGeom>
          <a:noFill/>
          <a:ln w="12700">
            <a:solidFill>
              <a:srgbClr val="5F665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" name="Text 100"/>
          <p:cNvSpPr txBox="1"/>
          <p:nvPr/>
        </p:nvSpPr>
        <p:spPr>
          <a:xfrm>
            <a:off x="5852160" y="505663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y</a:t>
            </a:r>
            <a:endParaRPr lang="en-US" sz="1000" dirty="0"/>
          </a:p>
        </p:txBody>
      </p:sp>
      <p:sp>
        <p:nvSpPr>
          <p:cNvPr id="105" name="Shape 101"/>
          <p:cNvSpPr/>
          <p:nvPr/>
        </p:nvSpPr>
        <p:spPr>
          <a:xfrm>
            <a:off x="5897880" y="5989320"/>
            <a:ext cx="685800" cy="0"/>
          </a:xfrm>
          <a:prstGeom prst="line">
            <a:avLst/>
          </a:prstGeom>
          <a:noFill/>
          <a:ln w="12700">
            <a:solidFill>
              <a:srgbClr val="5F665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6" name="Text 102"/>
          <p:cNvSpPr txBox="1"/>
          <p:nvPr/>
        </p:nvSpPr>
        <p:spPr>
          <a:xfrm>
            <a:off x="6629400" y="58704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x</a:t>
            </a:r>
            <a:endParaRPr lang="en-US" sz="1000" dirty="0"/>
          </a:p>
        </p:txBody>
      </p:sp>
      <p:sp>
        <p:nvSpPr>
          <p:cNvPr id="107" name="Shape 103"/>
          <p:cNvSpPr/>
          <p:nvPr/>
        </p:nvSpPr>
        <p:spPr>
          <a:xfrm flipV="1">
            <a:off x="5897880" y="5605272"/>
            <a:ext cx="411480" cy="384048"/>
          </a:xfrm>
          <a:prstGeom prst="line">
            <a:avLst/>
          </a:prstGeom>
          <a:noFill/>
          <a:ln w="12700">
            <a:solidFill>
              <a:srgbClr val="5F665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8" name="Text 104"/>
          <p:cNvSpPr txBox="1"/>
          <p:nvPr/>
        </p:nvSpPr>
        <p:spPr>
          <a:xfrm>
            <a:off x="6327648" y="53675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−z</a:t>
            </a:r>
            <a:endParaRPr lang="en-US" sz="1000" dirty="0"/>
          </a:p>
        </p:txBody>
      </p:sp>
      <p:sp>
        <p:nvSpPr>
          <p:cNvPr id="109" name="Text 105"/>
          <p:cNvSpPr txBox="1"/>
          <p:nvPr/>
        </p:nvSpPr>
        <p:spPr>
          <a:xfrm>
            <a:off x="5852160" y="4480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카메라는 오른손 좌표계,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−z 방향을 바라본다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Rays, a Simple Camera and Background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784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kern="0" spc="50" dirty="0">
                <a:solidFill>
                  <a:srgbClr val="5F66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광선, 간단한 카메라, 그리고 배경 — 배경 그리기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329184"/>
            <a:ext cx="1401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00" dirty="0">
                <a:solidFill>
                  <a:srgbClr val="D2CEC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04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Ray Tracing in One Weekend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08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429768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548640" y="16184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1.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16824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광선 만들기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1960245"/>
            <a:ext cx="3840480" cy="44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픽셀 좌표와 카메라의 중심을 알고 있으므로 눈(시점)에서 픽셀까지의 광선을 구할 수 있다.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2552941"/>
            <a:ext cx="429768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548640" y="2616949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2.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2680957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RayColor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2958706"/>
            <a:ext cx="3840480" cy="241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광선의 Y 성분을 색상으로 표현한다.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346494"/>
            <a:ext cx="429768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548640" y="341050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3.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" y="347451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 ~ 1 범위로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005840" y="3752259"/>
            <a:ext cx="3840480" cy="44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방향을 단위 벡터로 만든 뒤 a = 0.5 · (y + 1)로 범위를 0에서 1 사이로 만들어준다.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4344956"/>
            <a:ext cx="429768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548640" y="440896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4.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1005840" y="44729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선형 보간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005840" y="4750721"/>
            <a:ext cx="3840480" cy="44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(1 − a) · 흰색 + a · 파란색. 이미지의 위쪽으로 갈수록 색이 파래진다.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166360" y="1508760"/>
            <a:ext cx="6476695" cy="3764774"/>
          </a:xfrm>
          <a:prstGeom prst="rect">
            <a:avLst/>
          </a:prstGeom>
          <a:solidFill>
            <a:srgbClr val="F5F5F3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0" descr="렌더 루프 코드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737360"/>
            <a:ext cx="4069080" cy="1967761"/>
          </a:xfrm>
          <a:prstGeom prst="rect">
            <a:avLst/>
          </a:prstGeom>
        </p:spPr>
      </p:pic>
      <p:pic>
        <p:nvPicPr>
          <p:cNvPr id="26" name="Image 1" descr="RayColor 코드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3888001"/>
            <a:ext cx="4069080" cy="1111213"/>
          </a:xfrm>
          <a:prstGeom prst="rect">
            <a:avLst/>
          </a:prstGeom>
        </p:spPr>
      </p:pic>
      <p:pic>
        <p:nvPicPr>
          <p:cNvPr id="27" name="Image 2" descr="파란 그라데이션 결과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0" y="1737360"/>
            <a:ext cx="1767535" cy="140407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9692640" y="1737360"/>
            <a:ext cx="1767535" cy="1404070"/>
          </a:xfrm>
          <a:prstGeom prst="rect">
            <a:avLst/>
          </a:prstGeom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3"/>
          <p:cNvSpPr txBox="1"/>
          <p:nvPr/>
        </p:nvSpPr>
        <p:spPr>
          <a:xfrm>
            <a:off x="9692640" y="3232870"/>
            <a:ext cx="1767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결과 —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위로 갈수록 파래지는 배경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Adding a Sphere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784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kern="0" spc="50" dirty="0">
                <a:solidFill>
                  <a:srgbClr val="5F66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구 추가하기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329184"/>
            <a:ext cx="1401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00" dirty="0">
                <a:solidFill>
                  <a:srgbClr val="D2CEC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05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Ray Tracing in One Weekend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09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370332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548640" y="16184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1.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168249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구의 방정식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1960245"/>
            <a:ext cx="3246120" cy="44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점 P에서 구의 중심 C까지의 벡터는 C − P. 내적의 정의를 사용하면 (C − P)·(C − P) = r² 이 나온다.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2552941"/>
            <a:ext cx="370332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548640" y="2616949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2.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2680957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t에 대한 이차방정식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2958706"/>
            <a:ext cx="3246120" cy="65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광선 매개변수 t를 제외하고 모든 변수의 값이 정해져 있으므로, P(t)를 대입해 t를 중심으로 방정식을 정리한다. 판별식으로 교차 여부를 알 수 있다.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756311"/>
            <a:ext cx="370332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548640" y="3820319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3.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" y="3884327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HitSphere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005840" y="4162076"/>
            <a:ext cx="3246120" cy="44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광선이 구와 만나면 참을 반환한다. RayColor에서는 이때 빨간색을 반환한다 — 빨간 원이 그려진다.</a:t>
            </a:r>
            <a:endParaRPr lang="en-US" sz="1150" dirty="0"/>
          </a:p>
        </p:txBody>
      </p:sp>
      <p:pic>
        <p:nvPicPr>
          <p:cNvPr id="20" name="Image 0" descr="HitSphere 코드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600200"/>
            <a:ext cx="3337560" cy="2348182"/>
          </a:xfrm>
          <a:prstGeom prst="rect">
            <a:avLst/>
          </a:prstGeom>
        </p:spPr>
      </p:pic>
      <p:pic>
        <p:nvPicPr>
          <p:cNvPr id="21" name="Image 1" descr="빨간 구 결과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4222702"/>
            <a:ext cx="2103120" cy="1710253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4526280" y="4222702"/>
            <a:ext cx="2103120" cy="1710253"/>
          </a:xfrm>
          <a:prstGeom prst="rect">
            <a:avLst/>
          </a:prstGeom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 txBox="1"/>
          <p:nvPr/>
        </p:nvSpPr>
        <p:spPr>
          <a:xfrm>
            <a:off x="6766560" y="543003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빌드 결과 —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빨간 원이 그려진다</a:t>
            </a:r>
            <a:endParaRPr lang="en-US" sz="1000" dirty="0"/>
          </a:p>
        </p:txBody>
      </p:sp>
      <p:pic>
        <p:nvPicPr>
          <p:cNvPr id="24" name="Image 2" descr="구 방정식 유도 필기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0053" y="1554480"/>
            <a:ext cx="3333002" cy="434340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8310053" y="1554480"/>
            <a:ext cx="3333002" cy="4343400"/>
          </a:xfrm>
          <a:prstGeom prst="rect">
            <a:avLst/>
          </a:prstGeom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0"/>
          <p:cNvSpPr txBox="1"/>
          <p:nvPr/>
        </p:nvSpPr>
        <p:spPr>
          <a:xfrm>
            <a:off x="8310053" y="5971032"/>
            <a:ext cx="33330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구 방정식 → t에 대한 이차방정식 유도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Surface Normals and Multiple Objects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784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kern="0" spc="50" dirty="0">
                <a:solidFill>
                  <a:srgbClr val="5F66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표면 법선과 다중 객체 — 법선을 색으로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329184"/>
            <a:ext cx="1401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00" dirty="0">
                <a:solidFill>
                  <a:srgbClr val="D2CEC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06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Ray Tracing in One Weekend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10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72768"/>
            <a:ext cx="5486400" cy="501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앞 장에서 구와 만나는 모든 광선을 빨간색으로 표현했다면, 이번에는 법선에 색을 매핑한다. 법선을 매핑하려면 충돌점이 필요하다.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348484"/>
            <a:ext cx="1901952" cy="566928"/>
          </a:xfrm>
          <a:prstGeom prst="homePlate">
            <a:avLst/>
          </a:prstGeom>
          <a:solidFill>
            <a:srgbClr val="F3F1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658368" y="234848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21792" y="3034284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 t = HitSphere();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21792" y="3281172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HitSphere로 t 구하기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377440" y="2348484"/>
            <a:ext cx="1901952" cy="566928"/>
          </a:xfrm>
          <a:prstGeom prst="chevron">
            <a:avLst/>
          </a:prstGeom>
          <a:solidFill>
            <a:srgbClr val="E7E2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2606040" y="234848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2450592" y="3034284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 = P(t) − C;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2450592" y="3281172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외향 법선 계산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206240" y="2348484"/>
            <a:ext cx="1901952" cy="566928"/>
          </a:xfrm>
          <a:prstGeom prst="chevron">
            <a:avLst/>
          </a:prstGeom>
          <a:solidFill>
            <a:srgbClr val="D2CE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4434840" y="234848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279392" y="3034284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~ 1 구간으로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4279392" y="3281172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색으로 매핑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48640" y="3765804"/>
            <a:ext cx="548640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548640" y="382981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1.</a:t>
            </a:r>
            <a:endParaRPr lang="en-US" sz="1900" dirty="0"/>
          </a:p>
        </p:txBody>
      </p:sp>
      <p:sp>
        <p:nvSpPr>
          <p:cNvPr id="23" name="Text 20"/>
          <p:cNvSpPr txBox="1"/>
          <p:nvPr/>
        </p:nvSpPr>
        <p:spPr>
          <a:xfrm>
            <a:off x="1005840" y="38938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가장 가까운 충돌점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005840" y="4171569"/>
            <a:ext cx="5029200" cy="44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t가 음수일 때(판별식이 0보다 작음)는 고려하지 않고, 가장 가까운 충돌점을 사용한다. 근의 공식 ± 중 −를 쓰겠다는 뜻이다.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48640" y="4764265"/>
            <a:ext cx="548640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548640" y="4828273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2.</a:t>
            </a:r>
            <a:endParaRPr lang="en-US" sz="1900" dirty="0"/>
          </a:p>
        </p:txBody>
      </p:sp>
      <p:sp>
        <p:nvSpPr>
          <p:cNvPr id="27" name="Text 24"/>
          <p:cNvSpPr txBox="1"/>
          <p:nvPr/>
        </p:nvSpPr>
        <p:spPr>
          <a:xfrm>
            <a:off x="1005840" y="4892281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식 단순화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1005840" y="5170030"/>
            <a:ext cx="5029200" cy="44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근의 공식에서 b 대신 2h를 넣어서 식을 단순화할 수 있다. HitSphere 함수는 이후에 Sphere 클래스로 이동한다.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6400800" y="1508760"/>
            <a:ext cx="5242255" cy="4709160"/>
          </a:xfrm>
          <a:prstGeom prst="rect">
            <a:avLst/>
          </a:prstGeom>
          <a:solidFill>
            <a:srgbClr val="F5F5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 txBox="1"/>
          <p:nvPr/>
        </p:nvSpPr>
        <p:spPr>
          <a:xfrm>
            <a:off x="667512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kern="0" spc="100" dirty="0">
                <a:solidFill>
                  <a:srgbClr val="5F66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main.cpp — HitSphere 함수</a:t>
            </a:r>
            <a:endParaRPr lang="en-US" sz="1000" dirty="0"/>
          </a:p>
        </p:txBody>
      </p:sp>
      <p:pic>
        <p:nvPicPr>
          <p:cNvPr id="31" name="Image 0" descr="음수 판별식 처리 코드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057400"/>
            <a:ext cx="3017520" cy="1153758"/>
          </a:xfrm>
          <a:prstGeom prst="rect">
            <a:avLst/>
          </a:prstGeom>
        </p:spPr>
      </p:pic>
      <p:pic>
        <p:nvPicPr>
          <p:cNvPr id="32" name="Image 1" descr="HitSphere 단순화 코드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3439758"/>
            <a:ext cx="4553233" cy="254956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Surface Normals and Multiple Objects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784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kern="0" spc="50" dirty="0">
                <a:solidFill>
                  <a:srgbClr val="5F66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표면 법선과 다중 객체 — Hittable 추상화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329184"/>
            <a:ext cx="1401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00" dirty="0">
                <a:solidFill>
                  <a:srgbClr val="D2CEC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06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Ray Tracing in One Weekend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11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512064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548640" y="16184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1.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168249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Hittable 추상 클래스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1960245"/>
            <a:ext cx="4663440" cy="44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Sphere 클래스를 만들기 전에, 충돌 가능한 객체들을 위한 추상화 클래스 Hittable을 만든다.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2552941"/>
            <a:ext cx="512064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548640" y="2616949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2.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2680957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Hit 함수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2958706"/>
            <a:ext cx="4663440" cy="241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Hittable을 상속받는 클래스는 광선을 받는 Hit 함수를 정의해야 한다.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346494"/>
            <a:ext cx="512064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548640" y="341050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3.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" y="347451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HitRecord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005840" y="3752259"/>
            <a:ext cx="4663440" cy="65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충돌한 여러 객체들 중 하나를 선택해야 할 수 있으므로 충돌 정보를 기록해 둔다. 앞에서 HitSphere 함수로 알 수 있던 정보들(P, Normal, t)을 HitRecord에 기록한다.</a:t>
            </a:r>
            <a:endParaRPr lang="en-US" sz="1150" dirty="0"/>
          </a:p>
        </p:txBody>
      </p:sp>
      <p:pic>
        <p:nvPicPr>
          <p:cNvPr id="20" name="Image 0" descr="HitRecord 코드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00200"/>
            <a:ext cx="1600200" cy="2752834"/>
          </a:xfrm>
          <a:prstGeom prst="rect">
            <a:avLst/>
          </a:prstGeom>
        </p:spPr>
      </p:pic>
      <p:pic>
        <p:nvPicPr>
          <p:cNvPr id="21" name="Image 1" descr="Hittable 클래스 코드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600200"/>
            <a:ext cx="3429000" cy="2757714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172200" y="442618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HitRecord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8046720" y="443106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class Hittable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172200" y="4846320"/>
            <a:ext cx="1828800" cy="457200"/>
          </a:xfrm>
          <a:prstGeom prst="rect">
            <a:avLst/>
          </a:prstGeom>
          <a:solidFill>
            <a:srgbClr val="A8AEA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0"/>
          <p:cNvSpPr txBox="1"/>
          <p:nvPr/>
        </p:nvSpPr>
        <p:spPr>
          <a:xfrm>
            <a:off x="6172200" y="4846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Hittable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8732520" y="4846320"/>
            <a:ext cx="1325880" cy="457200"/>
          </a:xfrm>
          <a:prstGeom prst="rect">
            <a:avLst/>
          </a:prstGeom>
          <a:solidFill>
            <a:srgbClr val="F3F1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2"/>
          <p:cNvSpPr txBox="1"/>
          <p:nvPr/>
        </p:nvSpPr>
        <p:spPr>
          <a:xfrm>
            <a:off x="8732520" y="48463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Sphere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10177272" y="4846320"/>
            <a:ext cx="1463040" cy="457200"/>
          </a:xfrm>
          <a:prstGeom prst="rect">
            <a:avLst/>
          </a:prstGeom>
          <a:solidFill>
            <a:srgbClr val="F3F1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4"/>
          <p:cNvSpPr txBox="1"/>
          <p:nvPr/>
        </p:nvSpPr>
        <p:spPr>
          <a:xfrm>
            <a:off x="10177272" y="4846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HittableList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 flipH="1">
            <a:off x="8028432" y="5074920"/>
            <a:ext cx="704088" cy="0"/>
          </a:xfrm>
          <a:prstGeom prst="line">
            <a:avLst/>
          </a:prstGeom>
          <a:noFill/>
          <a:ln w="15875">
            <a:solidFill>
              <a:srgbClr val="5F665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6"/>
          <p:cNvSpPr/>
          <p:nvPr/>
        </p:nvSpPr>
        <p:spPr>
          <a:xfrm>
            <a:off x="10927080" y="5321808"/>
            <a:ext cx="0" cy="301752"/>
          </a:xfrm>
          <a:prstGeom prst="line">
            <a:avLst/>
          </a:prstGeom>
          <a:noFill/>
          <a:ln w="15875">
            <a:solidFill>
              <a:srgbClr val="5F66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7"/>
          <p:cNvSpPr/>
          <p:nvPr/>
        </p:nvSpPr>
        <p:spPr>
          <a:xfrm flipH="1">
            <a:off x="7086600" y="5623560"/>
            <a:ext cx="3840480" cy="0"/>
          </a:xfrm>
          <a:prstGeom prst="line">
            <a:avLst/>
          </a:prstGeom>
          <a:noFill/>
          <a:ln w="15875">
            <a:solidFill>
              <a:srgbClr val="5F66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8"/>
          <p:cNvSpPr/>
          <p:nvPr/>
        </p:nvSpPr>
        <p:spPr>
          <a:xfrm flipV="1">
            <a:off x="7086600" y="5321808"/>
            <a:ext cx="0" cy="301752"/>
          </a:xfrm>
          <a:prstGeom prst="line">
            <a:avLst/>
          </a:prstGeom>
          <a:noFill/>
          <a:ln w="15875">
            <a:solidFill>
              <a:srgbClr val="5F665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9"/>
          <p:cNvSpPr txBox="1"/>
          <p:nvPr/>
        </p:nvSpPr>
        <p:spPr>
          <a:xfrm>
            <a:off x="6172200" y="5806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Sphere와 HittableList 모두 Hittable을 상속해 Hit()를 구현한다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Surface Normals and Multiple Objects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784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kern="0" spc="50" dirty="0">
                <a:solidFill>
                  <a:srgbClr val="5F66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표면 법선과 다중 객체 — 유효 범위와 법선의 방향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329184"/>
            <a:ext cx="1401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00" dirty="0">
                <a:solidFill>
                  <a:srgbClr val="D2CEC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06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Ray Tracing in One Weekend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12</a:t>
            </a:r>
            <a:endParaRPr lang="en-US" sz="850" dirty="0"/>
          </a:p>
        </p:txBody>
      </p:sp>
      <p:pic>
        <p:nvPicPr>
          <p:cNvPr id="8" name="Image 0" descr="Sphere::Hit 코드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2926080" cy="226535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39204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Sphere::Hit 함수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3886200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유효 범위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3886200" y="1993392"/>
            <a:ext cx="7756855" cy="733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판별식이 음수일 경우 false.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작은 해를 먼저 검사(Surrounds 함수)하고, 그것이 충돌 구간을 벗어났다면 큰 해를 검사한다.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두 해 모두 범위를 벗어났다면 false를 반환한다.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4069080"/>
            <a:ext cx="11094415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외부/내부 표면 법선 그림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251960"/>
            <a:ext cx="2514600" cy="198024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548640" y="4251960"/>
            <a:ext cx="2514600" cy="1980248"/>
          </a:xfrm>
          <a:prstGeom prst="rect">
            <a:avLst/>
          </a:prstGeom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/>
          <p:cNvSpPr txBox="1"/>
          <p:nvPr/>
        </p:nvSpPr>
        <p:spPr>
          <a:xfrm>
            <a:off x="3886200" y="4279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법선의 방향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3886200" y="4645152"/>
            <a:ext cx="7756855" cy="966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광선이 구의 외부에서 오는지 내부에서 오는지(외부 표면을 향하는지, 내부 표면을 향하는지) 판별해야 한다. 양면 종이처럼 각 면이 다르게 렌더링되거나, 유리공처럼 안과 밖이 있는 객체에서 중요하다.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법선과 광선을 내적해서 결정하는데, 법선이 항상 밖을 향하는지, 광선과 항상 반대인지에 따라 결정 방법이 나뉜다.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Surface Normals and Multiple Objects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784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kern="0" spc="50" dirty="0">
                <a:solidFill>
                  <a:srgbClr val="5F66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표면 법선과 다중 객체 — 앞면(front face) 판별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329184"/>
            <a:ext cx="1401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00" dirty="0">
                <a:solidFill>
                  <a:srgbClr val="D2CEC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06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Ray Tracing in One Weekend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13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72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kern="0" spc="100" dirty="0">
                <a:solidFill>
                  <a:srgbClr val="5F66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가정 1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810512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법선은 항상 밖을 향한다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286000"/>
            <a:ext cx="5257800" cy="464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우리가 구한 법선은 항상 구 중심에서 밖을 향한다. 그래서 광선이 구 외부에서 들어오면 법선과 광선은 방향이 반대다.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2805074"/>
            <a:ext cx="5257800" cy="250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 내적 결과로 광선이 밖에서 오는지 안에서 나가는지를 결정할 수 있다.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1170432" y="4142232"/>
            <a:ext cx="1133856" cy="1133856"/>
          </a:xfrm>
          <a:prstGeom prst="ellipse">
            <a:avLst/>
          </a:prstGeom>
          <a:solidFill>
            <a:srgbClr val="E7E2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1655064" y="3456432"/>
            <a:ext cx="0" cy="685800"/>
          </a:xfrm>
          <a:prstGeom prst="line">
            <a:avLst/>
          </a:prstGeom>
          <a:noFill/>
          <a:ln w="22225">
            <a:solidFill>
              <a:srgbClr val="C8744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 flipV="1">
            <a:off x="1819656" y="3593592"/>
            <a:ext cx="0" cy="548640"/>
          </a:xfrm>
          <a:prstGeom prst="line">
            <a:avLst/>
          </a:prstGeom>
          <a:noFill/>
          <a:ln w="22225">
            <a:solidFill>
              <a:srgbClr val="4E5A4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548640" y="54132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front face  (dot &lt; 0)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822192" y="4142232"/>
            <a:ext cx="1133856" cy="1133856"/>
          </a:xfrm>
          <a:prstGeom prst="ellipse">
            <a:avLst/>
          </a:prstGeom>
          <a:solidFill>
            <a:srgbClr val="E7E2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 flipV="1">
            <a:off x="4306824" y="4142232"/>
            <a:ext cx="0" cy="704088"/>
          </a:xfrm>
          <a:prstGeom prst="line">
            <a:avLst/>
          </a:prstGeom>
          <a:noFill/>
          <a:ln w="22225">
            <a:solidFill>
              <a:srgbClr val="C8744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 flipV="1">
            <a:off x="4471416" y="3593592"/>
            <a:ext cx="0" cy="548640"/>
          </a:xfrm>
          <a:prstGeom prst="line">
            <a:avLst/>
          </a:prstGeom>
          <a:noFill/>
          <a:ln w="22225">
            <a:solidFill>
              <a:srgbClr val="4E5A4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3200400" y="54132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back face  (dot &gt; 0)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6382512" y="1572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kern="0" spc="100" dirty="0">
                <a:solidFill>
                  <a:srgbClr val="5F66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가정 2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6382512" y="1810512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법선은 항상 광선과 반대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6382512" y="2286000"/>
            <a:ext cx="5257800" cy="464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광선이 구 외부에서 오면 법선은 밖을 향하고, 광선이 구 내부에서 나가면 법선은 반대로 안쪽을 향한다.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6382512" y="2805074"/>
            <a:ext cx="5257800" cy="464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 내적 결과가 항상 음수이므로, 내적만으로는 밖에서 오는지 안에서 나가는지를 결정할 수 없다.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7004304" y="4142232"/>
            <a:ext cx="1133856" cy="1133856"/>
          </a:xfrm>
          <a:prstGeom prst="ellipse">
            <a:avLst/>
          </a:prstGeom>
          <a:solidFill>
            <a:srgbClr val="E7E2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2"/>
          <p:cNvSpPr/>
          <p:nvPr/>
        </p:nvSpPr>
        <p:spPr>
          <a:xfrm>
            <a:off x="7488936" y="3456432"/>
            <a:ext cx="0" cy="685800"/>
          </a:xfrm>
          <a:prstGeom prst="line">
            <a:avLst/>
          </a:prstGeom>
          <a:noFill/>
          <a:ln w="22225">
            <a:solidFill>
              <a:srgbClr val="C8744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 flipV="1">
            <a:off x="7653528" y="3593592"/>
            <a:ext cx="0" cy="548640"/>
          </a:xfrm>
          <a:prstGeom prst="line">
            <a:avLst/>
          </a:prstGeom>
          <a:noFill/>
          <a:ln w="22225">
            <a:solidFill>
              <a:srgbClr val="4E5A4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6382512" y="54132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외부 → 내부  (dot &lt; 0)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9656064" y="4142232"/>
            <a:ext cx="1133856" cy="1133856"/>
          </a:xfrm>
          <a:prstGeom prst="ellipse">
            <a:avLst/>
          </a:prstGeom>
          <a:solidFill>
            <a:srgbClr val="E7E2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 flipV="1">
            <a:off x="10140696" y="4142232"/>
            <a:ext cx="0" cy="704088"/>
          </a:xfrm>
          <a:prstGeom prst="line">
            <a:avLst/>
          </a:prstGeom>
          <a:noFill/>
          <a:ln w="22225">
            <a:solidFill>
              <a:srgbClr val="C8744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/>
          <p:cNvSpPr/>
          <p:nvPr/>
        </p:nvSpPr>
        <p:spPr>
          <a:xfrm>
            <a:off x="10305288" y="4142232"/>
            <a:ext cx="0" cy="548640"/>
          </a:xfrm>
          <a:prstGeom prst="line">
            <a:avLst/>
          </a:prstGeom>
          <a:noFill/>
          <a:ln w="22225">
            <a:solidFill>
              <a:srgbClr val="4E5A4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 txBox="1"/>
          <p:nvPr/>
        </p:nvSpPr>
        <p:spPr>
          <a:xfrm>
            <a:off x="9034272" y="54132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내부 → 외부  (dot &lt; 0)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4206240" y="6163056"/>
            <a:ext cx="411480" cy="0"/>
          </a:xfrm>
          <a:prstGeom prst="line">
            <a:avLst/>
          </a:prstGeom>
          <a:noFill/>
          <a:ln w="22225">
            <a:solidFill>
              <a:srgbClr val="C874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 txBox="1"/>
          <p:nvPr/>
        </p:nvSpPr>
        <p:spPr>
          <a:xfrm>
            <a:off x="4681728" y="60533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광선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349240" y="6163056"/>
            <a:ext cx="411480" cy="0"/>
          </a:xfrm>
          <a:prstGeom prst="line">
            <a:avLst/>
          </a:prstGeom>
          <a:noFill/>
          <a:ln w="22225">
            <a:solidFill>
              <a:srgbClr val="4E5A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 txBox="1"/>
          <p:nvPr/>
        </p:nvSpPr>
        <p:spPr>
          <a:xfrm>
            <a:off x="5824728" y="60533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법선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Surface Normals and Multiple Objects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784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kern="0" spc="50" dirty="0">
                <a:solidFill>
                  <a:srgbClr val="5F66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표면 법선과 다중 객체 — SetFaceNormal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329184"/>
            <a:ext cx="1401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00" dirty="0">
                <a:solidFill>
                  <a:srgbClr val="D2CEC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06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Ray Tracing in One Weekend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14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727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kern="0" spc="100" dirty="0">
                <a:solidFill>
                  <a:srgbClr val="5F66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가정 2 채택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8105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법선은 항상 광선과 반대 방향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331720"/>
            <a:ext cx="4846320" cy="501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내적의 결과를 이용해 광선의 방향(앞면인지)을 먼저 저장하고, 법선의 방향을 정해준다.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2970276"/>
            <a:ext cx="4846320" cy="678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저장된 법선은 항상 광선과 반대이므로 나중에는 내적만으로 앞면·뒷면을 알 수 없다. 그래서 교차할 때 외향 법선과 내적한 결과를 bFrontFace에 따로 기록해 둔다.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3968344"/>
            <a:ext cx="484632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548640" y="41055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kern="0" spc="100" dirty="0">
                <a:solidFill>
                  <a:srgbClr val="5F66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결정 시점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379824"/>
            <a:ext cx="4846320" cy="464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 결정을 색칠 시점에 할지 교차 시점에 할지 선택할 수 있는데, 이 책에서는 교차 시점(Hit)에서 결정된다.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852160" y="1508760"/>
            <a:ext cx="5790895" cy="4709160"/>
          </a:xfrm>
          <a:prstGeom prst="rect">
            <a:avLst/>
          </a:prstGeom>
          <a:solidFill>
            <a:srgbClr val="F5F5F3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0" descr="SetFaceNormal 코드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148840"/>
            <a:ext cx="5242255" cy="1508417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126480" y="4068737"/>
            <a:ext cx="5242255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 txBox="1"/>
          <p:nvPr/>
        </p:nvSpPr>
        <p:spPr>
          <a:xfrm>
            <a:off x="6126480" y="4160177"/>
            <a:ext cx="1280160" cy="41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bFrontFace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7543800" y="4160177"/>
            <a:ext cx="3824935" cy="41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Dot(광선 방향, 외향 법선) &lt; 0 이면 광선이 밖에서 들어오는 앞면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126480" y="4669965"/>
            <a:ext cx="5242255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 txBox="1"/>
          <p:nvPr/>
        </p:nvSpPr>
        <p:spPr>
          <a:xfrm>
            <a:off x="6126480" y="4761405"/>
            <a:ext cx="1280160" cy="41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7543800" y="4761405"/>
            <a:ext cx="3824935" cy="41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앞면이면 외향 법선 그대로, 뒷면이면 뒤집어서 항상 광선과 반대 방향으로 저장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126480" y="5271193"/>
            <a:ext cx="5242255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Surface Normals and Multiple Objects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784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kern="0" spc="50" dirty="0">
                <a:solidFill>
                  <a:srgbClr val="5F66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표면 법선과 다중 객체 — HittableList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329184"/>
            <a:ext cx="1401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00" dirty="0">
                <a:solidFill>
                  <a:srgbClr val="D2CEC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06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Ray Tracing in One Weekend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15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521208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548640" y="16184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1.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168249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HittableList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1960245"/>
            <a:ext cx="4754880" cy="44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Hittable 객체의 리스트를 저장하는 클래스를 만든다. 리스트는 std::vector를 사용하고, 각 Hittable 객체는 std::shared_ptr로 관리한다.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2552941"/>
            <a:ext cx="521208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548640" y="2616949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2.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2680957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왜 shared_ptr인가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2958706"/>
            <a:ext cx="4754880" cy="44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여러 지오메트리가 머티리얼을 공유할 수 있고, 메모리 관리를 편하게 하기 위해서다.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551403"/>
            <a:ext cx="521208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548640" y="3615411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3.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" y="3679419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메인 헤더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005840" y="3957168"/>
            <a:ext cx="4754880" cy="44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자주 쓰이는 헤더, 상수, 유틸리티 함수를 포함하는 메인 헤더 파일이 추가되었다.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4549864"/>
            <a:ext cx="521208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548640" y="461387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4.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1005840" y="4677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Interval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005840" y="4955629"/>
            <a:ext cx="4754880" cy="241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유효 범위를 표현하는 클래스가 추가되었다.</a:t>
            </a:r>
            <a:endParaRPr lang="en-US" sz="1150" dirty="0"/>
          </a:p>
        </p:txBody>
      </p:sp>
      <p:pic>
        <p:nvPicPr>
          <p:cNvPr id="24" name="Image 0" descr="법선 색 구 빌드 결과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00200"/>
            <a:ext cx="5425135" cy="4206063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6217920" y="5897703"/>
            <a:ext cx="54251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빌드 결과물 — 법선을 색으로 표현한 구와 지면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Moving Camera Code Into Its Own Class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784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kern="0" spc="50" dirty="0">
                <a:solidFill>
                  <a:srgbClr val="5F66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카메라 코드를 자체 클래스로 이동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329184"/>
            <a:ext cx="1401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00" dirty="0">
                <a:solidFill>
                  <a:srgbClr val="D2CEC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07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Ray Tracing in One Weekend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6002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15000"/>
              </a:lnSpc>
              <a:buNone/>
            </a:pPr>
            <a:r>
              <a:rPr lang="en-US" sz="5800" dirty="0">
                <a:solidFill>
                  <a:srgbClr val="5F665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+102</a:t>
            </a:r>
            <a:endParaRPr lang="en-US" sz="5800" dirty="0"/>
          </a:p>
        </p:txBody>
      </p:sp>
      <p:sp>
        <p:nvSpPr>
          <p:cNvPr id="9" name="Text 6"/>
          <p:cNvSpPr txBox="1"/>
          <p:nvPr/>
        </p:nvSpPr>
        <p:spPr>
          <a:xfrm>
            <a:off x="3017520" y="16002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15000"/>
              </a:lnSpc>
              <a:buNone/>
            </a:pPr>
            <a:r>
              <a:rPr lang="en-US" sz="5800" dirty="0">
                <a:solidFill>
                  <a:srgbClr val="C8744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−74</a:t>
            </a:r>
            <a:endParaRPr lang="en-US" sz="58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697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추가된 줄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3017520" y="2697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삭제된 줄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3154680"/>
            <a:ext cx="502920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548640" y="33101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74줄이 사라진 main 함수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3730752"/>
            <a:ext cx="5029200" cy="464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카메라와 렌더링 관련 코드를 Camera 클래스로 옮겼다. main에는 월드 구성과 카메라 설정, Render 호출만 남는다.</a:t>
            </a:r>
            <a:endParaRPr lang="en-US" sz="1150" dirty="0"/>
          </a:p>
        </p:txBody>
      </p:sp>
      <p:pic>
        <p:nvPicPr>
          <p:cNvPr id="15" name="Image 0" descr="커밋 변경 내역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892040"/>
            <a:ext cx="5029200" cy="61770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48640" y="4892040"/>
            <a:ext cx="5029200" cy="617704"/>
          </a:xfrm>
          <a:prstGeom prst="rect">
            <a:avLst/>
          </a:prstGeom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548640" y="558289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커밋 변경 내역</a:t>
            </a:r>
            <a:endParaRPr lang="en-US" sz="1000" dirty="0"/>
          </a:p>
        </p:txBody>
      </p:sp>
      <p:pic>
        <p:nvPicPr>
          <p:cNvPr id="18" name="Image 1" descr="정리된 main 함수 코드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600200"/>
            <a:ext cx="5562295" cy="347290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080760" y="5146257"/>
            <a:ext cx="5562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정리된 main 함수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Antialiasing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784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kern="0" spc="50" dirty="0">
                <a:solidFill>
                  <a:srgbClr val="5F66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안티 앨리어싱 — 문제와 해결 방향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329184"/>
            <a:ext cx="1401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00" dirty="0">
                <a:solidFill>
                  <a:srgbClr val="D2CEC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08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Ray Tracing in One Weekend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17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557784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548640" y="16184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1.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168249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앨리어싱 (계단 현상)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1960245"/>
            <a:ext cx="5120640" cy="65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렌더링된 이미지를 확대해 보면 계단 현상이 보이는데, 이것을 앨리어싱 또는 재기(jaggies)라고 부른다. 현실에서는 이미지가 연속적이고 자연스럽게 색이 섞여 보이는데 우리의 픽셀은 그렇지 못하다.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2757849"/>
            <a:ext cx="557784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548640" y="2821857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2.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2885865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점 샘플링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3163614"/>
            <a:ext cx="5120640" cy="65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지금은 픽셀의 중앙을 통과하는 광선 하나만 쓰는 “점 샘플링”을 하고 있다. 검정과 흰색이 섞인 격자에 광선을 쐈는데 검정 픽셀만 맞았다면, 회색으로 보여야 할 이미지가 검정으로만 보이게 된다(극단적인 예시).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961219"/>
            <a:ext cx="557784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548640" y="4025227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3.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" y="4089235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해결 — 주변을 샘플링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005840" y="4366984"/>
            <a:ext cx="5120640" cy="44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픽셀 주변의 광선들을 모아 샘플링하고 적분(평균)한다. 여기서 주변은 픽셀 중심 기준의 사각형으로 한정한다.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818120" y="2148840"/>
            <a:ext cx="2743200" cy="2743200"/>
          </a:xfrm>
          <a:prstGeom prst="rect">
            <a:avLst/>
          </a:prstGeom>
          <a:solidFill>
            <a:srgbClr val="F3F1E5"/>
          </a:solidFill>
          <a:ln w="15875">
            <a:solidFill>
              <a:srgbClr val="5F66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 flipV="1">
            <a:off x="7498080" y="2916936"/>
            <a:ext cx="868680" cy="685800"/>
          </a:xfrm>
          <a:prstGeom prst="line">
            <a:avLst/>
          </a:prstGeom>
          <a:noFill/>
          <a:ln w="13970">
            <a:solidFill>
              <a:srgbClr val="C8744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8321040" y="2871216"/>
            <a:ext cx="91440" cy="91440"/>
          </a:xfrm>
          <a:prstGeom prst="ellipse">
            <a:avLst/>
          </a:prstGeom>
          <a:solidFill>
            <a:srgbClr val="C8744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 flipV="1">
            <a:off x="8924544" y="2642616"/>
            <a:ext cx="868680" cy="685800"/>
          </a:xfrm>
          <a:prstGeom prst="line">
            <a:avLst/>
          </a:prstGeom>
          <a:noFill/>
          <a:ln w="13970">
            <a:solidFill>
              <a:srgbClr val="C8744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9747504" y="2596896"/>
            <a:ext cx="91440" cy="91440"/>
          </a:xfrm>
          <a:prstGeom prst="ellipse">
            <a:avLst/>
          </a:prstGeom>
          <a:solidFill>
            <a:srgbClr val="C8744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2"/>
          <p:cNvSpPr/>
          <p:nvPr/>
        </p:nvSpPr>
        <p:spPr>
          <a:xfrm flipV="1">
            <a:off x="7909560" y="4288536"/>
            <a:ext cx="868680" cy="685800"/>
          </a:xfrm>
          <a:prstGeom prst="line">
            <a:avLst/>
          </a:prstGeom>
          <a:noFill/>
          <a:ln w="13970">
            <a:solidFill>
              <a:srgbClr val="C8744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8732520" y="4242816"/>
            <a:ext cx="91440" cy="91440"/>
          </a:xfrm>
          <a:prstGeom prst="ellipse">
            <a:avLst/>
          </a:prstGeom>
          <a:solidFill>
            <a:srgbClr val="C8744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 flipV="1">
            <a:off x="9253728" y="3959352"/>
            <a:ext cx="868680" cy="685800"/>
          </a:xfrm>
          <a:prstGeom prst="line">
            <a:avLst/>
          </a:prstGeom>
          <a:noFill/>
          <a:ln w="13970">
            <a:solidFill>
              <a:srgbClr val="C8744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5"/>
          <p:cNvSpPr/>
          <p:nvPr/>
        </p:nvSpPr>
        <p:spPr>
          <a:xfrm>
            <a:off x="10076688" y="3913632"/>
            <a:ext cx="91440" cy="91440"/>
          </a:xfrm>
          <a:prstGeom prst="ellipse">
            <a:avLst/>
          </a:prstGeom>
          <a:solidFill>
            <a:srgbClr val="C8744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 flipV="1">
            <a:off x="8540496" y="3355848"/>
            <a:ext cx="868680" cy="685800"/>
          </a:xfrm>
          <a:prstGeom prst="line">
            <a:avLst/>
          </a:prstGeom>
          <a:noFill/>
          <a:ln w="13970">
            <a:solidFill>
              <a:srgbClr val="C8744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/>
          <p:cNvSpPr/>
          <p:nvPr/>
        </p:nvSpPr>
        <p:spPr>
          <a:xfrm>
            <a:off x="9363456" y="3310128"/>
            <a:ext cx="91440" cy="91440"/>
          </a:xfrm>
          <a:prstGeom prst="ellipse">
            <a:avLst/>
          </a:prstGeom>
          <a:solidFill>
            <a:srgbClr val="C8744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8"/>
          <p:cNvSpPr/>
          <p:nvPr/>
        </p:nvSpPr>
        <p:spPr>
          <a:xfrm flipV="1">
            <a:off x="7333488" y="3794760"/>
            <a:ext cx="868680" cy="685800"/>
          </a:xfrm>
          <a:prstGeom prst="line">
            <a:avLst/>
          </a:prstGeom>
          <a:noFill/>
          <a:ln w="13970">
            <a:solidFill>
              <a:srgbClr val="C8744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8156448" y="3749040"/>
            <a:ext cx="91440" cy="91440"/>
          </a:xfrm>
          <a:prstGeom prst="ellipse">
            <a:avLst/>
          </a:prstGeom>
          <a:solidFill>
            <a:srgbClr val="C8744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0"/>
          <p:cNvSpPr/>
          <p:nvPr/>
        </p:nvSpPr>
        <p:spPr>
          <a:xfrm flipV="1">
            <a:off x="8759952" y="4562856"/>
            <a:ext cx="868680" cy="685800"/>
          </a:xfrm>
          <a:prstGeom prst="line">
            <a:avLst/>
          </a:prstGeom>
          <a:noFill/>
          <a:ln w="13970">
            <a:solidFill>
              <a:srgbClr val="C8744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1"/>
          <p:cNvSpPr/>
          <p:nvPr/>
        </p:nvSpPr>
        <p:spPr>
          <a:xfrm>
            <a:off x="9582912" y="4517136"/>
            <a:ext cx="91440" cy="91440"/>
          </a:xfrm>
          <a:prstGeom prst="ellipse">
            <a:avLst/>
          </a:prstGeom>
          <a:solidFill>
            <a:srgbClr val="C8744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2"/>
          <p:cNvSpPr/>
          <p:nvPr/>
        </p:nvSpPr>
        <p:spPr>
          <a:xfrm>
            <a:off x="9070848" y="3401568"/>
            <a:ext cx="237744" cy="237744"/>
          </a:xfrm>
          <a:prstGeom prst="ellipse">
            <a:avLst/>
          </a:prstGeom>
          <a:solidFill>
            <a:srgbClr val="5F66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 txBox="1"/>
          <p:nvPr/>
        </p:nvSpPr>
        <p:spPr>
          <a:xfrm>
            <a:off x="9372600" y="34015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픽셀 중심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7452360" y="180136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(−0.5, −0.5) · (Δu, Δv)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8183880" y="50017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(0.5, 0.5) · (Δu, Δv)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6492240" y="5760720"/>
            <a:ext cx="5150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픽셀 중심 주변의 정사각형 안에서 무작위 위치로 광선을 여러 번 쏜다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Antialiasing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784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kern="0" spc="50" dirty="0">
                <a:solidFill>
                  <a:srgbClr val="5F66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안티 앨리어싱 — 구현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329184"/>
            <a:ext cx="1401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00" dirty="0">
                <a:solidFill>
                  <a:srgbClr val="D2CEC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08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Ray Tracing in One Weekend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18</a:t>
            </a:r>
            <a:endParaRPr lang="en-US" sz="850" dirty="0"/>
          </a:p>
        </p:txBody>
      </p:sp>
      <p:pic>
        <p:nvPicPr>
          <p:cNvPr id="8" name="Image 0" descr="샘플링 루프 코드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5212080" cy="221432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09244" y="2291069"/>
            <a:ext cx="4925416" cy="989803"/>
          </a:xfrm>
          <a:prstGeom prst="rect">
            <a:avLst/>
          </a:prstGeom>
          <a:ln w="22225">
            <a:solidFill>
              <a:srgbClr val="C874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2331171" y="3371660"/>
            <a:ext cx="2209922" cy="298934"/>
          </a:xfrm>
          <a:prstGeom prst="rect">
            <a:avLst/>
          </a:prstGeom>
          <a:ln w="22225">
            <a:solidFill>
              <a:srgbClr val="C874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5577840" y="2153909"/>
            <a:ext cx="274320" cy="274320"/>
          </a:xfrm>
          <a:prstGeom prst="ellipse">
            <a:avLst/>
          </a:prstGeom>
          <a:solidFill>
            <a:srgbClr val="C8744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/>
          <p:cNvSpPr txBox="1"/>
          <p:nvPr/>
        </p:nvSpPr>
        <p:spPr>
          <a:xfrm>
            <a:off x="5577840" y="215390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4586813" y="3325940"/>
            <a:ext cx="274320" cy="274320"/>
          </a:xfrm>
          <a:prstGeom prst="ellipse">
            <a:avLst/>
          </a:prstGeom>
          <a:solidFill>
            <a:srgbClr val="C8744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4586813" y="33259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</a:t>
            </a:r>
            <a:endParaRPr lang="en-US" sz="1080" dirty="0"/>
          </a:p>
        </p:txBody>
      </p:sp>
      <p:pic>
        <p:nvPicPr>
          <p:cNvPr id="15" name="Image 1" descr="Initialize 코드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134565"/>
            <a:ext cx="5212080" cy="160207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57123" y="5050951"/>
            <a:ext cx="4956688" cy="267546"/>
          </a:xfrm>
          <a:prstGeom prst="rect">
            <a:avLst/>
          </a:prstGeom>
          <a:ln w="22225">
            <a:solidFill>
              <a:srgbClr val="C874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5577840" y="4776631"/>
            <a:ext cx="274320" cy="274320"/>
          </a:xfrm>
          <a:prstGeom prst="ellipse">
            <a:avLst/>
          </a:prstGeom>
          <a:solidFill>
            <a:srgbClr val="C8744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3"/>
          <p:cNvSpPr txBox="1"/>
          <p:nvPr/>
        </p:nvSpPr>
        <p:spPr>
          <a:xfrm>
            <a:off x="5577840" y="477663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</a:t>
            </a:r>
            <a:endParaRPr lang="en-US" sz="1080" dirty="0"/>
          </a:p>
        </p:txBody>
      </p:sp>
      <p:pic>
        <p:nvPicPr>
          <p:cNvPr id="19" name="Image 2" descr="GetRay 코드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600200"/>
            <a:ext cx="3750986" cy="256032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9740306" y="1490472"/>
            <a:ext cx="274320" cy="274320"/>
          </a:xfrm>
          <a:prstGeom prst="ellipse">
            <a:avLst/>
          </a:prstGeom>
          <a:solidFill>
            <a:srgbClr val="C8744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5"/>
          <p:cNvSpPr txBox="1"/>
          <p:nvPr/>
        </p:nvSpPr>
        <p:spPr>
          <a:xfrm>
            <a:off x="9740306" y="1490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</a:t>
            </a:r>
            <a:endParaRPr lang="en-US" sz="1080" dirty="0"/>
          </a:p>
        </p:txBody>
      </p:sp>
      <p:sp>
        <p:nvSpPr>
          <p:cNvPr id="22" name="Shape 16"/>
          <p:cNvSpPr/>
          <p:nvPr/>
        </p:nvSpPr>
        <p:spPr>
          <a:xfrm>
            <a:off x="6172200" y="4389120"/>
            <a:ext cx="5470855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7"/>
          <p:cNvSpPr txBox="1"/>
          <p:nvPr/>
        </p:nvSpPr>
        <p:spPr>
          <a:xfrm>
            <a:off x="6172200" y="445312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1.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6629400" y="4517136"/>
            <a:ext cx="5013655" cy="428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정해진 횟수(samplesPerPixel)만큼 반복해서 광선을 모으고, pixelColor에 누적한다.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172200" y="5018862"/>
            <a:ext cx="5470855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0"/>
          <p:cNvSpPr txBox="1"/>
          <p:nvPr/>
        </p:nvSpPr>
        <p:spPr>
          <a:xfrm>
            <a:off x="6172200" y="508287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2.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6629400" y="5146878"/>
            <a:ext cx="5013655" cy="428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GetRay — 픽셀 중심 주변 [−0.5, 0.5] 정사각형 안의 무작위 점을 지나는 광선을 만든다.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172200" y="5648604"/>
            <a:ext cx="5470855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3"/>
          <p:cNvSpPr txBox="1"/>
          <p:nvPr/>
        </p:nvSpPr>
        <p:spPr>
          <a:xfrm>
            <a:off x="6172200" y="571261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3.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6629400" y="5776620"/>
            <a:ext cx="5013655" cy="428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누적된 pixelColor에 mPixelSamplesScale (= 1 / samplesPerPixel)을 곱해 샘플링 횟수만큼 나눠준다.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Antialiasing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784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kern="0" spc="50" dirty="0">
                <a:solidFill>
                  <a:srgbClr val="5F66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안티 앨리어싱 — 결과 비교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329184"/>
            <a:ext cx="1401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00" dirty="0">
                <a:solidFill>
                  <a:srgbClr val="D2CEC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08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Ray Tracing in One Weekend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19</a:t>
            </a:r>
            <a:endParaRPr lang="en-US" sz="850" dirty="0"/>
          </a:p>
        </p:txBody>
      </p:sp>
      <p:pic>
        <p:nvPicPr>
          <p:cNvPr id="8" name="Image 0" descr="안티 앨리어싱 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5166360" cy="2906078"/>
          </a:xfrm>
          <a:prstGeom prst="rect">
            <a:avLst/>
          </a:prstGeom>
        </p:spPr>
      </p:pic>
      <p:pic>
        <p:nvPicPr>
          <p:cNvPr id="9" name="Image 1" descr="안티 앨리어싱 후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6695" y="1600200"/>
            <a:ext cx="5166360" cy="2906078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852160" y="3053239"/>
            <a:ext cx="487375" cy="0"/>
          </a:xfrm>
          <a:prstGeom prst="line">
            <a:avLst/>
          </a:prstGeom>
          <a:noFill/>
          <a:ln w="19050">
            <a:solidFill>
              <a:srgbClr val="5F665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2" descr="Before 확대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780597"/>
            <a:ext cx="1463040" cy="109728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48640" y="4780597"/>
            <a:ext cx="1463040" cy="1097280"/>
          </a:xfrm>
          <a:prstGeom prst="rect">
            <a:avLst/>
          </a:prstGeom>
          <a:ln w="12700">
            <a:solidFill>
              <a:srgbClr val="A8AEA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7"/>
          <p:cNvSpPr txBox="1"/>
          <p:nvPr/>
        </p:nvSpPr>
        <p:spPr>
          <a:xfrm>
            <a:off x="2240280" y="4826317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Before</a:t>
            </a:r>
            <a:endParaRPr lang="en-US" sz="1800" dirty="0"/>
          </a:p>
        </p:txBody>
      </p:sp>
      <p:sp>
        <p:nvSpPr>
          <p:cNvPr id="14" name="Text 8"/>
          <p:cNvSpPr txBox="1"/>
          <p:nvPr/>
        </p:nvSpPr>
        <p:spPr>
          <a:xfrm>
            <a:off x="2240280" y="5237797"/>
            <a:ext cx="3474720" cy="250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점 샘플링 — 구의 경계가 계단처럼 보인다.</a:t>
            </a:r>
            <a:endParaRPr lang="en-US" sz="1150" dirty="0"/>
          </a:p>
        </p:txBody>
      </p:sp>
      <p:sp>
        <p:nvSpPr>
          <p:cNvPr id="15" name="Text 9"/>
          <p:cNvSpPr txBox="1"/>
          <p:nvPr/>
        </p:nvSpPr>
        <p:spPr>
          <a:xfrm>
            <a:off x="2240280" y="564927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경계 확대</a:t>
            </a:r>
            <a:endParaRPr lang="en-US" sz="1000" dirty="0"/>
          </a:p>
        </p:txBody>
      </p:sp>
      <p:pic>
        <p:nvPicPr>
          <p:cNvPr id="16" name="Image 3" descr="After 확대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6695" y="4780597"/>
            <a:ext cx="1463040" cy="109728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6476695" y="4780597"/>
            <a:ext cx="1463040" cy="1097280"/>
          </a:xfrm>
          <a:prstGeom prst="rect">
            <a:avLst/>
          </a:prstGeom>
          <a:ln w="12700">
            <a:solidFill>
              <a:srgbClr val="A8AEA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1"/>
          <p:cNvSpPr txBox="1"/>
          <p:nvPr/>
        </p:nvSpPr>
        <p:spPr>
          <a:xfrm>
            <a:off x="8168335" y="4826317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After</a:t>
            </a:r>
            <a:endParaRPr lang="en-US" sz="1800" dirty="0"/>
          </a:p>
        </p:txBody>
      </p:sp>
      <p:sp>
        <p:nvSpPr>
          <p:cNvPr id="19" name="Text 12"/>
          <p:cNvSpPr txBox="1"/>
          <p:nvPr/>
        </p:nvSpPr>
        <p:spPr>
          <a:xfrm>
            <a:off x="8168335" y="5237797"/>
            <a:ext cx="3474720" cy="250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픽셀당 여러 샘플 — 경계의 색이 부드럽게 섞인다.</a:t>
            </a:r>
            <a:endParaRPr lang="en-US" sz="1150" dirty="0"/>
          </a:p>
        </p:txBody>
      </p:sp>
      <p:sp>
        <p:nvSpPr>
          <p:cNvPr id="20" name="Text 13"/>
          <p:cNvSpPr txBox="1"/>
          <p:nvPr/>
        </p:nvSpPr>
        <p:spPr>
          <a:xfrm>
            <a:off x="8168335" y="564927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경계 확대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Diffuse Materials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784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kern="0" spc="50" dirty="0">
                <a:solidFill>
                  <a:srgbClr val="5F66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확산 재질 — 무작위 반사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329184"/>
            <a:ext cx="1401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00" dirty="0">
                <a:solidFill>
                  <a:srgbClr val="D2CEC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09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Ray Tracing in One Weekend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20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확산 객체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965960"/>
            <a:ext cx="5212080" cy="1198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확산 객체는 자체적으로 빛을 방출하지 않는다. 주변의 색상을 띠지만, 고유한 색상으로 이를 조절한다. 확산 표면에서 반사되는 빛은 방향이 무작위화된다.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따라서 무작위로 반사되는 광선을 구현하는 것이 핵심이다. 처음에는 모든 방향으로 균등하게 반사시키는 표면을 구현한다.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301746"/>
            <a:ext cx="5212080" cy="250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먼저 랜덤한 벡터를 생성하는 유틸리티 함수를 정의한다.</a:t>
            </a:r>
            <a:endParaRPr lang="en-US" sz="1150" dirty="0"/>
          </a:p>
        </p:txBody>
      </p:sp>
      <p:pic>
        <p:nvPicPr>
          <p:cNvPr id="11" name="Image 0" descr="Random 벡터 함수 코드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61867"/>
            <a:ext cx="3840480" cy="189400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263640" y="1600200"/>
            <a:ext cx="5379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기각 방법 (Rejection Method)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6263640" y="1965960"/>
            <a:ext cx="5379415" cy="501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완전 반대 방향으로 가지 않도록 반구 표면에 있는 벡터만 얻는 방법이 필요하다. 복잡한 방법 대신, 원하는 벡터가 나올 때까지 랜덤으로 계속 생성한다.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263640" y="3291840"/>
            <a:ext cx="1463040" cy="1463040"/>
          </a:xfrm>
          <a:prstGeom prst="ellipse">
            <a:avLst/>
          </a:prstGeom>
          <a:solidFill>
            <a:srgbClr val="F3F1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 txBox="1"/>
          <p:nvPr/>
        </p:nvSpPr>
        <p:spPr>
          <a:xfrm>
            <a:off x="6263640" y="35661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6263640" y="4069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생성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6172200" y="4937760"/>
            <a:ext cx="1645920" cy="445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단위 구 안에 무작위 벡터를 만든다.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799832" y="4023360"/>
            <a:ext cx="348844" cy="0"/>
          </a:xfrm>
          <a:prstGeom prst="line">
            <a:avLst/>
          </a:prstGeom>
          <a:noFill/>
          <a:ln w="15875">
            <a:solidFill>
              <a:srgbClr val="A8AEA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8221828" y="3291840"/>
            <a:ext cx="1463040" cy="1463040"/>
          </a:xfrm>
          <a:prstGeom prst="ellipse">
            <a:avLst/>
          </a:prstGeom>
          <a:solidFill>
            <a:srgbClr val="E7E2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 txBox="1"/>
          <p:nvPr/>
        </p:nvSpPr>
        <p:spPr>
          <a:xfrm>
            <a:off x="8221828" y="35661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221828" y="4069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정규화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8130388" y="4937760"/>
            <a:ext cx="1645920" cy="445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 벡터를 정규화해서 구 표면까지 늘린다.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758020" y="4023360"/>
            <a:ext cx="348844" cy="0"/>
          </a:xfrm>
          <a:prstGeom prst="line">
            <a:avLst/>
          </a:prstGeom>
          <a:noFill/>
          <a:ln w="15875">
            <a:solidFill>
              <a:srgbClr val="A8AEA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10180015" y="3291840"/>
            <a:ext cx="1463040" cy="1463040"/>
          </a:xfrm>
          <a:prstGeom prst="ellipse">
            <a:avLst/>
          </a:prstGeom>
          <a:solidFill>
            <a:srgbClr val="D2CE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 txBox="1"/>
          <p:nvPr/>
        </p:nvSpPr>
        <p:spPr>
          <a:xfrm>
            <a:off x="10180015" y="35661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Text 22"/>
          <p:cNvSpPr txBox="1"/>
          <p:nvPr/>
        </p:nvSpPr>
        <p:spPr>
          <a:xfrm>
            <a:off x="10180015" y="4069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뒤집기</a:t>
            </a:r>
            <a:endParaRPr lang="en-US" sz="1150" dirty="0"/>
          </a:p>
        </p:txBody>
      </p:sp>
      <p:sp>
        <p:nvSpPr>
          <p:cNvPr id="27" name="Text 23"/>
          <p:cNvSpPr txBox="1"/>
          <p:nvPr/>
        </p:nvSpPr>
        <p:spPr>
          <a:xfrm>
            <a:off x="10088575" y="4937760"/>
            <a:ext cx="1645920" cy="445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반구의 반대쪽에 있으면 정규화된 벡터를 뒤집는다.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Diffuse Materials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784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kern="0" spc="50" dirty="0">
                <a:solidFill>
                  <a:srgbClr val="5F66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확산 재질 — 단위 구에서 무작위 벡터 얻기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329184"/>
            <a:ext cx="1401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00" dirty="0">
                <a:solidFill>
                  <a:srgbClr val="D2CEC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09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Ray Tracing in One Weekend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21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72768"/>
            <a:ext cx="10058400" cy="278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단위 구가 나온 이유는 균등하게 확산하기 위해서다. 구 표면 위에 새로운 반구를 상상해 보면 되겠다.</a:t>
            </a:r>
            <a:endParaRPr lang="en-US" sz="1300" dirty="0"/>
          </a:p>
        </p:txBody>
      </p:sp>
      <p:pic>
        <p:nvPicPr>
          <p:cNvPr id="9" name="Image 0" descr="① 표면 위의 반구와 단위 구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3120"/>
            <a:ext cx="2511920" cy="18745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2103120"/>
            <a:ext cx="2511920" cy="1874520"/>
          </a:xfrm>
          <a:prstGeom prst="rect">
            <a:avLst/>
          </a:prstGeom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 txBox="1"/>
          <p:nvPr/>
        </p:nvSpPr>
        <p:spPr>
          <a:xfrm>
            <a:off x="548640" y="4050792"/>
            <a:ext cx="278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① 표면 위의 반구와 단위 구</a:t>
            </a:r>
            <a:endParaRPr lang="en-US" sz="1000" dirty="0"/>
          </a:p>
        </p:txBody>
      </p:sp>
      <p:pic>
        <p:nvPicPr>
          <p:cNvPr id="12" name="Image 1" descr="② 원 안에 있는 점을 고른다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4880" y="2103120"/>
            <a:ext cx="1988881" cy="187452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334880" y="2103120"/>
            <a:ext cx="1988881" cy="1874520"/>
          </a:xfrm>
          <a:prstGeom prst="rect">
            <a:avLst/>
          </a:prstGeom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9"/>
          <p:cNvSpPr txBox="1"/>
          <p:nvPr/>
        </p:nvSpPr>
        <p:spPr>
          <a:xfrm>
            <a:off x="3334880" y="4050792"/>
            <a:ext cx="226320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② 원 안에 있는 점을 고른다</a:t>
            </a:r>
            <a:endParaRPr lang="en-US" sz="1000" dirty="0"/>
          </a:p>
        </p:txBody>
      </p:sp>
      <p:pic>
        <p:nvPicPr>
          <p:cNvPr id="15" name="Image 2" descr="③ 정규화해서 단위 길이로 연장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8080" y="2103120"/>
            <a:ext cx="1980999" cy="187452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598080" y="2103120"/>
            <a:ext cx="1980999" cy="1874520"/>
          </a:xfrm>
          <a:prstGeom prst="rect">
            <a:avLst/>
          </a:prstGeom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1"/>
          <p:cNvSpPr txBox="1"/>
          <p:nvPr/>
        </p:nvSpPr>
        <p:spPr>
          <a:xfrm>
            <a:off x="5598080" y="4050792"/>
            <a:ext cx="22553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③ 정규화해서 단위 길이로 연장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8036279" y="2103120"/>
            <a:ext cx="3606776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3"/>
          <p:cNvSpPr txBox="1"/>
          <p:nvPr/>
        </p:nvSpPr>
        <p:spPr>
          <a:xfrm>
            <a:off x="8036279" y="2240280"/>
            <a:ext cx="3606776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단위 구라고 했으니 원 안에 있는 점을 골라 정규화하고, 단위 길이 벡터로 만들어 연장하면 완성이다.</a:t>
            </a:r>
            <a:endParaRPr lang="en-US" sz="1200" dirty="0"/>
          </a:p>
        </p:txBody>
      </p:sp>
      <p:pic>
        <p:nvPicPr>
          <p:cNvPr id="20" name="Image 3" descr="RandomUnitVector 코드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434840"/>
            <a:ext cx="3200400" cy="1794233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942289" y="4940814"/>
            <a:ext cx="1961845" cy="278106"/>
          </a:xfrm>
          <a:prstGeom prst="rect">
            <a:avLst/>
          </a:prstGeom>
          <a:ln w="22225">
            <a:solidFill>
              <a:srgbClr val="C874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5"/>
          <p:cNvSpPr/>
          <p:nvPr/>
        </p:nvSpPr>
        <p:spPr>
          <a:xfrm>
            <a:off x="2427275" y="5444993"/>
            <a:ext cx="1043330" cy="123802"/>
          </a:xfrm>
          <a:prstGeom prst="rect">
            <a:avLst/>
          </a:prstGeom>
          <a:ln w="22225">
            <a:solidFill>
              <a:srgbClr val="C874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6"/>
          <p:cNvSpPr/>
          <p:nvPr/>
        </p:nvSpPr>
        <p:spPr>
          <a:xfrm>
            <a:off x="1105510" y="5640564"/>
            <a:ext cx="1795424" cy="217102"/>
          </a:xfrm>
          <a:prstGeom prst="rect">
            <a:avLst/>
          </a:prstGeom>
          <a:ln w="22225">
            <a:solidFill>
              <a:srgbClr val="C874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7"/>
          <p:cNvSpPr txBox="1"/>
          <p:nvPr/>
        </p:nvSpPr>
        <p:spPr>
          <a:xfrm>
            <a:off x="4114800" y="4480560"/>
            <a:ext cx="7528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RandomUnitVector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4114800" y="478231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1.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4572000" y="4846320"/>
            <a:ext cx="7071055" cy="232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단위 정육면체 안에서 무작위 점 p를 뽑고, 단위 구 안(lengthSquared ≤ 1)에 들 때까지 반복한다.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4114800" y="5069751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2.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4572000" y="5133759"/>
            <a:ext cx="7071055" cy="428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* 매우 작은 값이 제곱되면 언더플로우되어 0이 될 수 있어, 1e-160 보다 큰 경우만 사용한 뒤 길이로 나눠 정규화한다.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Diffuse Materials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784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kern="0" spc="50" dirty="0">
                <a:solidFill>
                  <a:srgbClr val="5F66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확산 재질 — 반구 위로 반사하기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329184"/>
            <a:ext cx="1401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00" dirty="0">
                <a:solidFill>
                  <a:srgbClr val="D2CEC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09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Ray Tracing in One Weekend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22</a:t>
            </a:r>
            <a:endParaRPr lang="en-US" sz="850" dirty="0"/>
          </a:p>
        </p:txBody>
      </p:sp>
      <p:pic>
        <p:nvPicPr>
          <p:cNvPr id="8" name="Image 0" descr="RandomOnHemisphere 코드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3566160" cy="2002671"/>
          </a:xfrm>
          <a:prstGeom prst="rect">
            <a:avLst/>
          </a:prstGeom>
        </p:spPr>
      </p:pic>
      <p:pic>
        <p:nvPicPr>
          <p:cNvPr id="9" name="Image 1" descr="반구 반대쪽 벡터 뒤집기 그림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600200"/>
            <a:ext cx="1905038" cy="2002671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389120" y="1600200"/>
            <a:ext cx="1905038" cy="2002671"/>
          </a:xfrm>
          <a:prstGeom prst="rect">
            <a:avLst/>
          </a:prstGeom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6"/>
          <p:cNvSpPr txBox="1"/>
          <p:nvPr/>
        </p:nvSpPr>
        <p:spPr>
          <a:xfrm>
            <a:off x="6614198" y="1645920"/>
            <a:ext cx="50288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RandomOnHemisphere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6614198" y="2011680"/>
            <a:ext cx="5028857" cy="501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법선과 내적해서 음수일 경우(반구의 반대쪽에 있음) 벡터를 반대로 뒤집는다.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548640" y="3794760"/>
            <a:ext cx="11094415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재귀 RayColor 코드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77640"/>
            <a:ext cx="2631572" cy="219456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90745" y="4912523"/>
            <a:ext cx="2473678" cy="739567"/>
          </a:xfrm>
          <a:prstGeom prst="rect">
            <a:avLst/>
          </a:prstGeom>
          <a:ln w="22225">
            <a:solidFill>
              <a:srgbClr val="C874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0"/>
          <p:cNvSpPr txBox="1"/>
          <p:nvPr/>
        </p:nvSpPr>
        <p:spPr>
          <a:xfrm>
            <a:off x="3500252" y="40233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재귀 RayColor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3500252" y="4389120"/>
            <a:ext cx="3429000" cy="891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재귀 함수다. 반사된 광선에 대해서 또 계산을 한다. 반사될 때마다 절반(0.5)씩 감소한다.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반사되는 색상을 100% 유지하면 흰색, 0% 유지하면 검은색이다.</a:t>
            </a:r>
            <a:endParaRPr lang="en-US" sz="1150" dirty="0"/>
          </a:p>
        </p:txBody>
      </p:sp>
      <p:pic>
        <p:nvPicPr>
          <p:cNvPr id="18" name="Image 3" descr="첫 확산 렌더 결과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9735" y="3977640"/>
            <a:ext cx="3703320" cy="2083117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939735" y="6115621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첫 번째 확산 재질 렌더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Diffuse Materials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784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kern="0" spc="50" dirty="0">
                <a:solidFill>
                  <a:srgbClr val="5F66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확산 재질 — 재귀 깊이 제한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329184"/>
            <a:ext cx="1401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00" dirty="0">
                <a:solidFill>
                  <a:srgbClr val="D2CEC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09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Ray Tracing in One Weekend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23</a:t>
            </a:r>
            <a:endParaRPr lang="en-US" sz="850" dirty="0"/>
          </a:p>
        </p:txBody>
      </p:sp>
      <p:pic>
        <p:nvPicPr>
          <p:cNvPr id="8" name="Image 0" descr="depth 인자가 추가된 RayColor 코드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4389120" cy="3660241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264786" y="1600200"/>
            <a:ext cx="588142" cy="380665"/>
          </a:xfrm>
          <a:prstGeom prst="rect">
            <a:avLst/>
          </a:prstGeom>
          <a:ln w="22225">
            <a:solidFill>
              <a:srgbClr val="C874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3779032" y="3862229"/>
            <a:ext cx="588142" cy="516094"/>
          </a:xfrm>
          <a:prstGeom prst="rect">
            <a:avLst/>
          </a:prstGeom>
          <a:ln w="22225">
            <a:solidFill>
              <a:srgbClr val="C874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 txBox="1"/>
          <p:nvPr/>
        </p:nvSpPr>
        <p:spPr>
          <a:xfrm>
            <a:off x="548640" y="5333593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RayColor(ray, depth, world) — 호출할 때마다 depth − 1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303520" y="1554480"/>
            <a:ext cx="6339535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 txBox="1"/>
          <p:nvPr/>
        </p:nvSpPr>
        <p:spPr>
          <a:xfrm>
            <a:off x="5303520" y="16184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1.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5760720" y="1682496"/>
            <a:ext cx="5882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스택 오버플로우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5760720" y="1960245"/>
            <a:ext cx="5882335" cy="241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함수가 멈추지 않고 계속 호출된다면 스택 오버플로우가 될 것이다.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303520" y="2348033"/>
            <a:ext cx="6339535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5303520" y="2412041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2.</a:t>
            </a:r>
            <a:endParaRPr lang="en-US" sz="1900" dirty="0"/>
          </a:p>
        </p:txBody>
      </p:sp>
      <p:sp>
        <p:nvSpPr>
          <p:cNvPr id="18" name="Text 14"/>
          <p:cNvSpPr txBox="1"/>
          <p:nvPr/>
        </p:nvSpPr>
        <p:spPr>
          <a:xfrm>
            <a:off x="5760720" y="2476049"/>
            <a:ext cx="5882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maxDepth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5760720" y="2753798"/>
            <a:ext cx="5882335" cy="44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Camera 클래스에 depth(maxDepth)를 추가해 제한을 건다. depth가 0 이하가 되면 더 이상 빛을 모으지 않고 검정을 반환한다.</a:t>
            </a:r>
            <a:endParaRPr lang="en-US" sz="1150" dirty="0"/>
          </a:p>
        </p:txBody>
      </p:sp>
      <p:pic>
        <p:nvPicPr>
          <p:cNvPr id="20" name="Image 1" descr="Camera 멤버 변수 코드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3520440"/>
            <a:ext cx="5120640" cy="124571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0607040" y="3566160"/>
            <a:ext cx="1036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class Camera — maxDepth 추가</a:t>
            </a:r>
            <a:endParaRPr lang="en-US" sz="1000" dirty="0"/>
          </a:p>
        </p:txBody>
      </p:sp>
      <p:pic>
        <p:nvPicPr>
          <p:cNvPr id="22" name="Image 2" descr="Camera::Render 코드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4930748"/>
            <a:ext cx="3017520" cy="1265651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503920" y="49764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Camera::Render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Diffuse Materials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784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kern="0" spc="50" dirty="0">
                <a:solidFill>
                  <a:srgbClr val="5F66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확산 재질 — 그림자 여드름 (Shadow Acne)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329184"/>
            <a:ext cx="1401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00" dirty="0">
                <a:solidFill>
                  <a:srgbClr val="D2CEC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09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Ray Tracing in One Weekend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24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512064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548640" y="16184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1.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168249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부동소수점 오차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1960245"/>
            <a:ext cx="4663440" cy="44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광선과 표면의 교차점을 계산할 때 부동소수점 오차가 생길 가능성은 매우 크다.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2552941"/>
            <a:ext cx="512064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548640" y="2616949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2.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2680957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같은 표면과 다시 교차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2958706"/>
            <a:ext cx="4663440" cy="65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오차로 인해 원래 교차점보다 아래에 있다면 다시 그 표면과 교차할 수 있다. 그게 반복되면 검정색이 된다. 이를 그림자 여드름(shadow acne)이라고도 부른다.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756311"/>
            <a:ext cx="512064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548640" y="3820319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3.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" y="3884327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너무 작은 t는 무시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005840" y="4162076"/>
            <a:ext cx="4663440" cy="44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앞에서 만든 유효 범위(Interval)를 이용해서 너무 작은 값은 무시하도록 제한을 건다.</a:t>
            </a:r>
            <a:endParaRPr lang="en-US" sz="1150" dirty="0"/>
          </a:p>
        </p:txBody>
      </p:sp>
      <p:pic>
        <p:nvPicPr>
          <p:cNvPr id="20" name="Image 0" descr="Interval(0.001, Infinity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718196"/>
            <a:ext cx="2377440" cy="448802"/>
          </a:xfrm>
          <a:prstGeom prst="rect">
            <a:avLst/>
          </a:prstGeom>
        </p:spPr>
      </p:pic>
      <p:pic>
        <p:nvPicPr>
          <p:cNvPr id="21" name="Image 1" descr="그림자 여드름이 있는 결과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6855" y="1600200"/>
            <a:ext cx="3886200" cy="2185988"/>
          </a:xfrm>
          <a:prstGeom prst="rect">
            <a:avLst/>
          </a:prstGeom>
        </p:spPr>
      </p:pic>
      <p:pic>
        <p:nvPicPr>
          <p:cNvPr id="22" name="Image 2" descr="수정 후 결과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6855" y="4197668"/>
            <a:ext cx="3886200" cy="2185988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9699955" y="3841051"/>
            <a:ext cx="0" cy="301752"/>
          </a:xfrm>
          <a:prstGeom prst="line">
            <a:avLst/>
          </a:prstGeom>
          <a:noFill/>
          <a:ln w="19050">
            <a:solidFill>
              <a:srgbClr val="5F665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8"/>
          <p:cNvSpPr txBox="1"/>
          <p:nvPr/>
        </p:nvSpPr>
        <p:spPr>
          <a:xfrm>
            <a:off x="6293815" y="1691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7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Before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6293815" y="2103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표면이 다시</a:t>
            </a:r>
            <a:endParaRPr lang="en-US" sz="1000" dirty="0"/>
          </a:p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자기 자신과 교차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6293815" y="42891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7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After</a:t>
            </a:r>
            <a:endParaRPr lang="en-US" sz="1700" dirty="0"/>
          </a:p>
        </p:txBody>
      </p:sp>
      <p:sp>
        <p:nvSpPr>
          <p:cNvPr id="27" name="Text 21"/>
          <p:cNvSpPr txBox="1"/>
          <p:nvPr/>
        </p:nvSpPr>
        <p:spPr>
          <a:xfrm>
            <a:off x="6019495" y="47005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Interval(0.001, ∞)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Diffuse Materials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784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kern="0" spc="50" dirty="0">
                <a:solidFill>
                  <a:srgbClr val="5F66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확산 재질 — 람베르시안(Lambertian) 분포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329184"/>
            <a:ext cx="1401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00" dirty="0">
                <a:solidFill>
                  <a:srgbClr val="D2CEC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09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Ray Tracing in One Weekend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25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72768"/>
            <a:ext cx="5120640" cy="501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이미 반구에 걸쳐 균일하게 광선을 산란시켰지만 더 나은 방법이 있다. 람베르시안(Lambertian) 분포다.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257044"/>
            <a:ext cx="512064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548640" y="23210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1.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23850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접하는 두 단위 구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2662809"/>
            <a:ext cx="4663440" cy="44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표면의 교차점 P와 표면 법선 n이 있다. 표면과 딱 접하는 단위 반지름 구를 2개 그릴 수 있는데, 하나는 중심이 P + n이고 하나는 중심이 P − n이다.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3255505"/>
            <a:ext cx="512064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548640" y="3319513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2.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3383521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무작위 점 S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005840" y="3661270"/>
            <a:ext cx="4663440" cy="241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충돌 지점 P에서 무작위 점 S로 광선을 보낼 건데, 이 방향은 S − P다.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4049058"/>
            <a:ext cx="512064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548640" y="411306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3.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1005840" y="417707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법선 + 랜덤 단위 벡터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005840" y="4454823"/>
            <a:ext cx="4663440" cy="44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 − P는 벡터 성질을 이용해 노말과 랜덤 단위 길이 벡터의 덧셈으로 바꿀 수 있다.</a:t>
            </a:r>
            <a:endParaRPr lang="en-US" sz="1150" dirty="0"/>
          </a:p>
        </p:txBody>
      </p:sp>
      <p:pic>
        <p:nvPicPr>
          <p:cNvPr id="21" name="Image 0" descr="균일 반구 산란 그림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00200"/>
            <a:ext cx="2389387" cy="178308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6172200" y="1600200"/>
            <a:ext cx="2389387" cy="1783080"/>
          </a:xfrm>
          <a:prstGeom prst="rect">
            <a:avLst/>
          </a:prstGeom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1" descr="Lambertian 산란 그림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8802" y="1600200"/>
            <a:ext cx="1674254" cy="178308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9968802" y="1600200"/>
            <a:ext cx="1674254" cy="1783080"/>
          </a:xfrm>
          <a:prstGeom prst="rect">
            <a:avLst/>
          </a:prstGeom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0"/>
          <p:cNvSpPr/>
          <p:nvPr/>
        </p:nvSpPr>
        <p:spPr>
          <a:xfrm>
            <a:off x="8671315" y="2491740"/>
            <a:ext cx="1187759" cy="0"/>
          </a:xfrm>
          <a:prstGeom prst="line">
            <a:avLst/>
          </a:prstGeom>
          <a:noFill/>
          <a:ln w="19050">
            <a:solidFill>
              <a:srgbClr val="5F665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1"/>
          <p:cNvSpPr txBox="1"/>
          <p:nvPr/>
        </p:nvSpPr>
        <p:spPr>
          <a:xfrm>
            <a:off x="8607307" y="2180844"/>
            <a:ext cx="13157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C87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RandomUnitVector()</a:t>
            </a:r>
            <a:endParaRPr lang="en-US" sz="950" dirty="0"/>
          </a:p>
        </p:txBody>
      </p:sp>
      <p:sp>
        <p:nvSpPr>
          <p:cNvPr id="27" name="Text 22"/>
          <p:cNvSpPr txBox="1"/>
          <p:nvPr/>
        </p:nvSpPr>
        <p:spPr>
          <a:xfrm>
            <a:off x="6172200" y="3438144"/>
            <a:ext cx="23893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diffuse (균일 반구)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9968802" y="3438144"/>
            <a:ext cx="16742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Lambertian</a:t>
            </a:r>
            <a:endParaRPr lang="en-US" sz="1000" dirty="0"/>
          </a:p>
        </p:txBody>
      </p:sp>
      <p:pic>
        <p:nvPicPr>
          <p:cNvPr id="29" name="Image 2" descr="최종 Lambertian 코드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4023360"/>
            <a:ext cx="3566160" cy="2013081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9966960" y="4069080"/>
            <a:ext cx="1676095" cy="464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최종적으로 코드는 왼쪽처럼 된다.</a:t>
            </a:r>
            <a:endParaRPr lang="en-US" sz="1150" dirty="0"/>
          </a:p>
        </p:txBody>
      </p:sp>
      <p:sp>
        <p:nvSpPr>
          <p:cNvPr id="31" name="Text 25"/>
          <p:cNvSpPr txBox="1"/>
          <p:nvPr/>
        </p:nvSpPr>
        <p:spPr>
          <a:xfrm>
            <a:off x="9966960" y="4663440"/>
            <a:ext cx="1676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 =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 +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RandomUnitVector()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Diffuse Materials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784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kern="0" spc="50" dirty="0">
                <a:solidFill>
                  <a:srgbClr val="5F66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확산 재질 — 반사율에 따른 결과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329184"/>
            <a:ext cx="1401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00" dirty="0">
                <a:solidFill>
                  <a:srgbClr val="D2CEC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09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Ray Tracing in One Weekend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72768"/>
            <a:ext cx="6858000" cy="501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RayColor에서 반사될 때 유지하는 비율(0.5)을 바꿔 본다. 값이 클수록 더 많은 빛을 반사해 밝아진다.</a:t>
            </a:r>
            <a:endParaRPr lang="en-US" sz="1250" dirty="0"/>
          </a:p>
        </p:txBody>
      </p:sp>
      <p:pic>
        <p:nvPicPr>
          <p:cNvPr id="9" name="Image 0" descr="return 0.5 * RayColor(...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11324"/>
            <a:ext cx="5120640" cy="35104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024860" y="2211324"/>
            <a:ext cx="409651" cy="351042"/>
          </a:xfrm>
          <a:prstGeom prst="rect">
            <a:avLst/>
          </a:prstGeom>
          <a:ln w="22225">
            <a:solidFill>
              <a:srgbClr val="C874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1127730" y="3063240"/>
            <a:ext cx="914400" cy="914400"/>
          </a:xfrm>
          <a:prstGeom prst="ellipse">
            <a:avLst/>
          </a:prstGeom>
          <a:solidFill>
            <a:srgbClr val="7E857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/>
          <p:cNvSpPr txBox="1"/>
          <p:nvPr/>
        </p:nvSpPr>
        <p:spPr>
          <a:xfrm>
            <a:off x="1127730" y="3063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0.1</a:t>
            </a:r>
            <a:endParaRPr lang="en-US" sz="1900" dirty="0"/>
          </a:p>
        </p:txBody>
      </p:sp>
      <p:pic>
        <p:nvPicPr>
          <p:cNvPr id="13" name="Image 1" descr="반사율 0.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251960"/>
            <a:ext cx="2072579" cy="1165826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383189" y="3063240"/>
            <a:ext cx="914400" cy="914400"/>
          </a:xfrm>
          <a:prstGeom prst="ellipse">
            <a:avLst/>
          </a:prstGeom>
          <a:solidFill>
            <a:srgbClr val="A8AEA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/>
          <p:cNvSpPr txBox="1"/>
          <p:nvPr/>
        </p:nvSpPr>
        <p:spPr>
          <a:xfrm>
            <a:off x="3383189" y="3063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0.3</a:t>
            </a:r>
            <a:endParaRPr lang="en-US" sz="1900" dirty="0"/>
          </a:p>
        </p:txBody>
      </p:sp>
      <p:pic>
        <p:nvPicPr>
          <p:cNvPr id="16" name="Image 2" descr="반사율 0.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4099" y="4251960"/>
            <a:ext cx="2072579" cy="1165826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638648" y="3063240"/>
            <a:ext cx="914400" cy="914400"/>
          </a:xfrm>
          <a:prstGeom prst="ellipse">
            <a:avLst/>
          </a:prstGeom>
          <a:solidFill>
            <a:srgbClr val="D2CE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2"/>
          <p:cNvSpPr txBox="1"/>
          <p:nvPr/>
        </p:nvSpPr>
        <p:spPr>
          <a:xfrm>
            <a:off x="5638648" y="3063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0.5</a:t>
            </a:r>
            <a:endParaRPr lang="en-US" sz="1900" dirty="0"/>
          </a:p>
        </p:txBody>
      </p:sp>
      <p:pic>
        <p:nvPicPr>
          <p:cNvPr id="19" name="Image 3" descr="반사율 0.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9558" y="4251960"/>
            <a:ext cx="2072579" cy="1165826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7894107" y="3063240"/>
            <a:ext cx="914400" cy="914400"/>
          </a:xfrm>
          <a:prstGeom prst="ellipse">
            <a:avLst/>
          </a:prstGeom>
          <a:solidFill>
            <a:srgbClr val="E7E2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4"/>
          <p:cNvSpPr txBox="1"/>
          <p:nvPr/>
        </p:nvSpPr>
        <p:spPr>
          <a:xfrm>
            <a:off x="7894107" y="3063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0.7</a:t>
            </a:r>
            <a:endParaRPr lang="en-US" sz="1900" dirty="0"/>
          </a:p>
        </p:txBody>
      </p:sp>
      <p:pic>
        <p:nvPicPr>
          <p:cNvPr id="22" name="Image 4" descr="반사율 0.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017" y="4251960"/>
            <a:ext cx="2072579" cy="1165826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10149566" y="3063240"/>
            <a:ext cx="914400" cy="914400"/>
          </a:xfrm>
          <a:prstGeom prst="ellipse">
            <a:avLst/>
          </a:prstGeom>
          <a:solidFill>
            <a:srgbClr val="F3F1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6"/>
          <p:cNvSpPr txBox="1"/>
          <p:nvPr/>
        </p:nvSpPr>
        <p:spPr>
          <a:xfrm>
            <a:off x="10149566" y="3063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0.9</a:t>
            </a:r>
            <a:endParaRPr lang="en-US" sz="1900" dirty="0"/>
          </a:p>
        </p:txBody>
      </p:sp>
      <p:pic>
        <p:nvPicPr>
          <p:cNvPr id="25" name="Image 5" descr="반사율 0.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70476" y="4251960"/>
            <a:ext cx="2072579" cy="1165826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548640" y="58064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반사율 0.1 → 0.9  ·  원의 명도는 반사율을 뜻한다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Diffuse Materials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784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kern="0" spc="50" dirty="0">
                <a:solidFill>
                  <a:srgbClr val="5F66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확산 재질 — 감마 보정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329184"/>
            <a:ext cx="1401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00" dirty="0">
                <a:solidFill>
                  <a:srgbClr val="D2CEC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09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Ray Tracing in One Weekend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27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539496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548640" y="16184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1.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168249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선형 공간 vs 감마 공간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1960245"/>
            <a:ext cx="4937760" cy="44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이미지 편집 프로그램은 이미지가 감마 보정되었다고 생각하는데, 우리는 감마 보정이 안 된 선형 공간의 이미지를 생성했다.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2552941"/>
            <a:ext cx="539496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548640" y="2616949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2.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2680957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LinearToGamma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2958706"/>
            <a:ext cx="4937760" cy="44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따라서 선형 공간에서 감마 공간으로 변환해 준다. 감마 2를 쓰므로 각 성분에 제곱근을 취한다.</a:t>
            </a:r>
            <a:endParaRPr lang="en-US" sz="1150" dirty="0"/>
          </a:p>
        </p:txBody>
      </p:sp>
      <p:pic>
        <p:nvPicPr>
          <p:cNvPr id="16" name="Image 0" descr="LinearToGamma 코드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03320"/>
            <a:ext cx="2514600" cy="1135188"/>
          </a:xfrm>
          <a:prstGeom prst="rect">
            <a:avLst/>
          </a:prstGeom>
        </p:spPr>
      </p:pic>
      <p:pic>
        <p:nvPicPr>
          <p:cNvPr id="17" name="Image 1" descr="WriteColor 감마 적용 코드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3703320"/>
            <a:ext cx="2651760" cy="2152260"/>
          </a:xfrm>
          <a:prstGeom prst="rect">
            <a:avLst/>
          </a:prstGeom>
        </p:spPr>
      </p:pic>
      <p:pic>
        <p:nvPicPr>
          <p:cNvPr id="18" name="Image 2" descr="감마 보정 전 (0.5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1600200"/>
            <a:ext cx="4007815" cy="2254396"/>
          </a:xfrm>
          <a:prstGeom prst="rect">
            <a:avLst/>
          </a:prstGeom>
        </p:spPr>
      </p:pic>
      <p:pic>
        <p:nvPicPr>
          <p:cNvPr id="19" name="Image 3" descr="감마 보정 후 (0.5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0" y="4174636"/>
            <a:ext cx="4007815" cy="225439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446520" y="16459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보정 전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6446520" y="19842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반사율 0.5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6446520" y="422035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보정 후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6446520" y="455868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반사율 0.5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Diffuse Materials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784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kern="0" spc="50" dirty="0">
                <a:solidFill>
                  <a:srgbClr val="5F66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확산 재질 — 감마 보정 전 · 후 비교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329184"/>
            <a:ext cx="1401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00" dirty="0">
                <a:solidFill>
                  <a:srgbClr val="D2CEC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09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Ray Tracing in One Weekend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28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301466" y="1572768"/>
            <a:ext cx="566928" cy="566928"/>
          </a:xfrm>
          <a:prstGeom prst="ellipse">
            <a:avLst/>
          </a:prstGeom>
          <a:solidFill>
            <a:srgbClr val="7E857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1301466" y="1572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0.1</a:t>
            </a:r>
            <a:endParaRPr lang="en-US" sz="1250" dirty="0"/>
          </a:p>
        </p:txBody>
      </p:sp>
      <p:pic>
        <p:nvPicPr>
          <p:cNvPr id="10" name="Image 0" descr="선형 0.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97480"/>
            <a:ext cx="2072579" cy="1165826"/>
          </a:xfrm>
          <a:prstGeom prst="rect">
            <a:avLst/>
          </a:prstGeom>
        </p:spPr>
      </p:pic>
      <p:pic>
        <p:nvPicPr>
          <p:cNvPr id="11" name="Image 1" descr="감마 0.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430234"/>
            <a:ext cx="2072579" cy="1165826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556925" y="1572768"/>
            <a:ext cx="566928" cy="566928"/>
          </a:xfrm>
          <a:prstGeom prst="ellipse">
            <a:avLst/>
          </a:prstGeom>
          <a:solidFill>
            <a:srgbClr val="A8AEA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8"/>
          <p:cNvSpPr txBox="1"/>
          <p:nvPr/>
        </p:nvSpPr>
        <p:spPr>
          <a:xfrm>
            <a:off x="3556925" y="1572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0.3</a:t>
            </a:r>
            <a:endParaRPr lang="en-US" sz="1250" dirty="0"/>
          </a:p>
        </p:txBody>
      </p:sp>
      <p:pic>
        <p:nvPicPr>
          <p:cNvPr id="14" name="Image 2" descr="선형 0.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4099" y="2697480"/>
            <a:ext cx="2072579" cy="1165826"/>
          </a:xfrm>
          <a:prstGeom prst="rect">
            <a:avLst/>
          </a:prstGeom>
        </p:spPr>
      </p:pic>
      <p:pic>
        <p:nvPicPr>
          <p:cNvPr id="15" name="Image 3" descr="감마 0.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4099" y="4430234"/>
            <a:ext cx="2072579" cy="116582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5812384" y="1572768"/>
            <a:ext cx="566928" cy="566928"/>
          </a:xfrm>
          <a:prstGeom prst="ellipse">
            <a:avLst/>
          </a:prstGeom>
          <a:solidFill>
            <a:srgbClr val="D2CE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0"/>
          <p:cNvSpPr txBox="1"/>
          <p:nvPr/>
        </p:nvSpPr>
        <p:spPr>
          <a:xfrm>
            <a:off x="5812384" y="1572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0.5</a:t>
            </a:r>
            <a:endParaRPr lang="en-US" sz="1250" dirty="0"/>
          </a:p>
        </p:txBody>
      </p:sp>
      <p:pic>
        <p:nvPicPr>
          <p:cNvPr id="18" name="Image 4" descr="선형 0.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9558" y="2697480"/>
            <a:ext cx="2072579" cy="1165826"/>
          </a:xfrm>
          <a:prstGeom prst="rect">
            <a:avLst/>
          </a:prstGeom>
        </p:spPr>
      </p:pic>
      <p:pic>
        <p:nvPicPr>
          <p:cNvPr id="19" name="Image 5" descr="감마 0.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59558" y="4430234"/>
            <a:ext cx="2072579" cy="1165826"/>
          </a:xfrm>
          <a:prstGeom prst="rect">
            <a:avLst/>
          </a:prstGeom>
        </p:spPr>
      </p:pic>
      <p:sp>
        <p:nvSpPr>
          <p:cNvPr id="20" name="Shape 11"/>
          <p:cNvSpPr/>
          <p:nvPr/>
        </p:nvSpPr>
        <p:spPr>
          <a:xfrm>
            <a:off x="8067843" y="1572768"/>
            <a:ext cx="566928" cy="566928"/>
          </a:xfrm>
          <a:prstGeom prst="ellipse">
            <a:avLst/>
          </a:prstGeom>
          <a:solidFill>
            <a:srgbClr val="E7E2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2"/>
          <p:cNvSpPr txBox="1"/>
          <p:nvPr/>
        </p:nvSpPr>
        <p:spPr>
          <a:xfrm>
            <a:off x="8067843" y="1572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0.7</a:t>
            </a:r>
            <a:endParaRPr lang="en-US" sz="1250" dirty="0"/>
          </a:p>
        </p:txBody>
      </p:sp>
      <p:pic>
        <p:nvPicPr>
          <p:cNvPr id="22" name="Image 6" descr="선형 0.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017" y="2697480"/>
            <a:ext cx="2072579" cy="1165826"/>
          </a:xfrm>
          <a:prstGeom prst="rect">
            <a:avLst/>
          </a:prstGeom>
        </p:spPr>
      </p:pic>
      <p:pic>
        <p:nvPicPr>
          <p:cNvPr id="23" name="Image 7" descr="감마 0.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5017" y="4430234"/>
            <a:ext cx="2072579" cy="1165826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10323302" y="1572768"/>
            <a:ext cx="566928" cy="566928"/>
          </a:xfrm>
          <a:prstGeom prst="ellipse">
            <a:avLst/>
          </a:prstGeom>
          <a:solidFill>
            <a:srgbClr val="F3F1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4"/>
          <p:cNvSpPr txBox="1"/>
          <p:nvPr/>
        </p:nvSpPr>
        <p:spPr>
          <a:xfrm>
            <a:off x="10323302" y="1572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0.9</a:t>
            </a:r>
            <a:endParaRPr lang="en-US" sz="1250" dirty="0"/>
          </a:p>
        </p:txBody>
      </p:sp>
      <p:pic>
        <p:nvPicPr>
          <p:cNvPr id="26" name="Image 8" descr="선형 0.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70476" y="2697480"/>
            <a:ext cx="2072579" cy="1165826"/>
          </a:xfrm>
          <a:prstGeom prst="rect">
            <a:avLst/>
          </a:prstGeom>
        </p:spPr>
      </p:pic>
      <p:pic>
        <p:nvPicPr>
          <p:cNvPr id="27" name="Image 9" descr="감마 0.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70476" y="4430234"/>
            <a:ext cx="2072579" cy="1165826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548640" y="23317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선형 공간</a:t>
            </a:r>
            <a:r>
              <a:rPr lang="en-US" sz="10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  보정 전</a:t>
            </a:r>
            <a:endParaRPr lang="en-US" sz="1400" dirty="0"/>
          </a:p>
        </p:txBody>
      </p:sp>
      <p:sp>
        <p:nvSpPr>
          <p:cNvPr id="29" name="Text 16"/>
          <p:cNvSpPr txBox="1"/>
          <p:nvPr/>
        </p:nvSpPr>
        <p:spPr>
          <a:xfrm>
            <a:off x="548640" y="406447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감마 공간</a:t>
            </a:r>
            <a:r>
              <a:rPr lang="en-US" sz="10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  보정 후</a:t>
            </a:r>
            <a:endParaRPr lang="en-US" sz="1400" dirty="0"/>
          </a:p>
        </p:txBody>
      </p:sp>
      <p:sp>
        <p:nvSpPr>
          <p:cNvPr id="30" name="Shape 17"/>
          <p:cNvSpPr/>
          <p:nvPr/>
        </p:nvSpPr>
        <p:spPr>
          <a:xfrm>
            <a:off x="548640" y="5870379"/>
            <a:ext cx="11094415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18"/>
          <p:cNvSpPr txBox="1"/>
          <p:nvPr/>
        </p:nvSpPr>
        <p:spPr>
          <a:xfrm>
            <a:off x="548640" y="6007539"/>
            <a:ext cx="9144000" cy="268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감마 보정 후에는 반사율에 따라 어두운 쪽에서 밝은 쪽으로 밝기가 훨씬 고르게 변한다.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Metal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784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kern="0" spc="50" dirty="0">
                <a:solidFill>
                  <a:srgbClr val="5F66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금속 — 재질 클래스 설계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329184"/>
            <a:ext cx="1401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00" dirty="0">
                <a:solidFill>
                  <a:srgbClr val="D2CEC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10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Ray Tracing in One Weekend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29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48640" y="1572768"/>
            <a:ext cx="5364328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548640" y="166420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1.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1719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Material 추상 클래스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2075688"/>
            <a:ext cx="2148840" cy="972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다양한 재질을 위해 고유한 동작을 캡슐화하는 추상 재질 클래스를 만든다. 산란된 광선을 생성하고, 산란되었을 때 광선이 얼마만큼 감쇠해야 하는지 알려준다.</a:t>
            </a:r>
            <a:endParaRPr lang="en-US" sz="1050" dirty="0"/>
          </a:p>
        </p:txBody>
      </p:sp>
      <p:pic>
        <p:nvPicPr>
          <p:cNvPr id="12" name="Image 0" descr="Material 추상 클래스 코드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755648"/>
            <a:ext cx="2666848" cy="66061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278728" y="1572768"/>
            <a:ext cx="5364328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6278728" y="166420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2.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6690208" y="1719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HitRecord에 재질 기록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6690208" y="2075688"/>
            <a:ext cx="2148840" cy="784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RayColor에서 재질을 참조할 수 있도록 한다. 이전에는 재질과 상관없이 벡터를 랜덤하게 보냈지만, 이제 재질에 따라 다르게 산란할 수 있다.</a:t>
            </a:r>
            <a:endParaRPr lang="en-US" sz="1050" dirty="0"/>
          </a:p>
        </p:txBody>
      </p:sp>
      <p:pic>
        <p:nvPicPr>
          <p:cNvPr id="17" name="Image 1" descr="HitRecord에 재질 기록 코드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6208" y="1755648"/>
            <a:ext cx="2666848" cy="108238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548640" y="3922776"/>
            <a:ext cx="5364328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4"/>
          <p:cNvSpPr txBox="1"/>
          <p:nvPr/>
        </p:nvSpPr>
        <p:spPr>
          <a:xfrm>
            <a:off x="548640" y="401421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3.</a:t>
            </a:r>
            <a:endParaRPr lang="en-US" sz="1900" dirty="0"/>
          </a:p>
        </p:txBody>
      </p:sp>
      <p:sp>
        <p:nvSpPr>
          <p:cNvPr id="20" name="Text 15"/>
          <p:cNvSpPr txBox="1"/>
          <p:nvPr/>
        </p:nvSpPr>
        <p:spPr>
          <a:xfrm>
            <a:off x="960120" y="4069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Lambertian과 Metal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960120" y="4425696"/>
            <a:ext cx="2148840" cy="784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두 재질이 추가되었다. albedo는 재질의 색상이다. Lambertian 반사율은 빛이 감쇠될 수도 있는데, 여기서는 감쇠 없이 항상 산란하도록 구현했다.</a:t>
            </a:r>
            <a:endParaRPr lang="en-US" sz="1050" dirty="0"/>
          </a:p>
        </p:txBody>
      </p:sp>
      <p:pic>
        <p:nvPicPr>
          <p:cNvPr id="22" name="Image 2" descr="Lambertian과 Metal 코드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6120" y="4105656"/>
            <a:ext cx="2666848" cy="1418879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278728" y="3922776"/>
            <a:ext cx="5364328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8"/>
          <p:cNvSpPr txBox="1"/>
          <p:nvPr/>
        </p:nvSpPr>
        <p:spPr>
          <a:xfrm>
            <a:off x="6278728" y="401421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4.</a:t>
            </a:r>
            <a:endParaRPr lang="en-US" sz="1900" dirty="0"/>
          </a:p>
        </p:txBody>
      </p:sp>
      <p:sp>
        <p:nvSpPr>
          <p:cNvPr id="25" name="Text 19"/>
          <p:cNvSpPr txBox="1"/>
          <p:nvPr/>
        </p:nvSpPr>
        <p:spPr>
          <a:xfrm>
            <a:off x="6690208" y="4069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NearZero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6690208" y="4425696"/>
            <a:ext cx="2148840" cy="972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산란 벡터가 법선과 정확히 반대면 두 벡터의 합은 0이 되어 무한대나 NaN 같은 문제를 일으킬 수 있다. 0에 가까운지 검사하는 헬퍼 함수로 방지한다.</a:t>
            </a:r>
            <a:endParaRPr lang="en-US" sz="1050" dirty="0"/>
          </a:p>
        </p:txBody>
      </p:sp>
      <p:pic>
        <p:nvPicPr>
          <p:cNvPr id="27" name="Image 3" descr="NearZero 코드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6208" y="4105656"/>
            <a:ext cx="2666848" cy="93302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Metal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784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kern="0" spc="50" dirty="0">
                <a:solidFill>
                  <a:srgbClr val="5F66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금속 — 정반사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329184"/>
            <a:ext cx="1401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00" dirty="0">
                <a:solidFill>
                  <a:srgbClr val="D2CEC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10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Ray Tracing in One Weekend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30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72768"/>
            <a:ext cx="5669280" cy="519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금속은 랜덤하게 반사되는 게 아니라, 거울에 반사되는 빛처럼 입사각과 반사각이 같은 정반사를 한다.</a:t>
            </a:r>
            <a:endParaRPr lang="en-US" sz="1300" dirty="0"/>
          </a:p>
        </p:txBody>
      </p:sp>
      <p:pic>
        <p:nvPicPr>
          <p:cNvPr id="9" name="Image 0" descr="반사 벡터 그림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31720"/>
            <a:ext cx="2651760" cy="202528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2331720"/>
            <a:ext cx="2651760" cy="2025282"/>
          </a:xfrm>
          <a:prstGeom prst="rect">
            <a:avLst/>
          </a:prstGeom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반사 벡터 유도 필기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2331720"/>
            <a:ext cx="2788920" cy="1912862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429000" y="2331720"/>
            <a:ext cx="2788920" cy="1912862"/>
          </a:xfrm>
          <a:prstGeom prst="rect">
            <a:avLst/>
          </a:prstGeom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548640" y="4585602"/>
            <a:ext cx="566928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9"/>
          <p:cNvSpPr txBox="1"/>
          <p:nvPr/>
        </p:nvSpPr>
        <p:spPr>
          <a:xfrm>
            <a:off x="548640" y="464961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1.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005840" y="4713618"/>
            <a:ext cx="5212080" cy="241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빨간색 벡터가 산란(scattered) 벡터다. 방향은 v + 2b다.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5009966"/>
            <a:ext cx="566928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2"/>
          <p:cNvSpPr txBox="1"/>
          <p:nvPr/>
        </p:nvSpPr>
        <p:spPr>
          <a:xfrm>
            <a:off x="548640" y="507397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2.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005840" y="5137982"/>
            <a:ext cx="5212080" cy="241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벡터 b를 구하려면 법선 벡터(방향)에 v의 n 방향 투영 길이(크기)를 곱한다.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5434330"/>
            <a:ext cx="566928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5"/>
          <p:cNvSpPr txBox="1"/>
          <p:nvPr/>
        </p:nvSpPr>
        <p:spPr>
          <a:xfrm>
            <a:off x="548640" y="549833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3.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1005840" y="5562346"/>
            <a:ext cx="5212080" cy="241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벡터 v와 b는 방향이 반대이므로 투영 길이에 음수를 취해야 한다.</a:t>
            </a:r>
            <a:endParaRPr lang="en-US" sz="1150" dirty="0"/>
          </a:p>
        </p:txBody>
      </p:sp>
      <p:pic>
        <p:nvPicPr>
          <p:cNvPr id="22" name="Image 2" descr="금속 구 렌더 결과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1600200"/>
            <a:ext cx="5059375" cy="2845899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583680" y="4519251"/>
            <a:ext cx="50593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빌드 결과 — 양옆이 금속 구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583680" y="4949019"/>
            <a:ext cx="5059375" cy="731520"/>
          </a:xfrm>
          <a:prstGeom prst="rect">
            <a:avLst/>
          </a:prstGeom>
          <a:solidFill>
            <a:srgbClr val="F3F1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9"/>
          <p:cNvSpPr txBox="1"/>
          <p:nvPr/>
        </p:nvSpPr>
        <p:spPr>
          <a:xfrm>
            <a:off x="6583680" y="4949019"/>
            <a:ext cx="50593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7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Reflect(v, n) = v − 2 (v · n) n</a:t>
            </a:r>
            <a:endParaRPr lang="en-US" sz="1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Metal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784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kern="0" spc="50" dirty="0">
                <a:solidFill>
                  <a:srgbClr val="5F66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금속 — 퍼지 반사 (Fuzzy Reflection)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329184"/>
            <a:ext cx="1401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00" dirty="0">
                <a:solidFill>
                  <a:srgbClr val="D2CEC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10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Ray Tracing in One Weekend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31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493776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548640" y="16184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1.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16824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퍼지 매개변수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1960245"/>
            <a:ext cx="4480560" cy="241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퍼지 매개변수를 추가해서 반사를 흐릿하게 할 수 있다.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2348033"/>
            <a:ext cx="493776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548640" y="2412041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2.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2476049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무작위 점 선택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2753798"/>
            <a:ext cx="4480560" cy="44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반사 벡터 끝점에서 퍼지 값만큼의 반지름을 가진 구를 그리고, 그 구의 표면에서 랜덤한 점을 선택한다.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346494"/>
            <a:ext cx="493776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548640" y="341050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3.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" y="347451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흐림 정도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005840" y="3752259"/>
            <a:ext cx="4480560" cy="241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퍼지 값이 커질수록 반사가 더 흐릿해진다.</a:t>
            </a:r>
            <a:endParaRPr lang="en-US" sz="1150" dirty="0"/>
          </a:p>
        </p:txBody>
      </p:sp>
      <p:pic>
        <p:nvPicPr>
          <p:cNvPr id="20" name="Image 0" descr="퍼지 반사 그림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160520"/>
            <a:ext cx="2286000" cy="193167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1005840" y="4160520"/>
            <a:ext cx="2286000" cy="1931670"/>
          </a:xfrm>
          <a:prstGeom prst="rect">
            <a:avLst/>
          </a:prstGeom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1" descr="Metal::Scatter 퍼지 코드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1600200"/>
            <a:ext cx="5196535" cy="1902957"/>
          </a:xfrm>
          <a:prstGeom prst="rect">
            <a:avLst/>
          </a:prstGeom>
        </p:spPr>
      </p:pic>
      <p:pic>
        <p:nvPicPr>
          <p:cNvPr id="23" name="Image 2" descr="퍼지 값 설정 코드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880" y="3640317"/>
            <a:ext cx="5745175" cy="531556"/>
          </a:xfrm>
          <a:prstGeom prst="rect">
            <a:avLst/>
          </a:prstGeom>
        </p:spPr>
      </p:pic>
      <p:pic>
        <p:nvPicPr>
          <p:cNvPr id="24" name="Image 3" descr="퍼지 전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7880" y="4446193"/>
            <a:ext cx="2621128" cy="1474384"/>
          </a:xfrm>
          <a:prstGeom prst="rect">
            <a:avLst/>
          </a:prstGeom>
        </p:spPr>
      </p:pic>
      <p:pic>
        <p:nvPicPr>
          <p:cNvPr id="25" name="Image 4" descr="퍼지 후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1928" y="4446193"/>
            <a:ext cx="2621128" cy="1474384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8592160" y="5183385"/>
            <a:ext cx="356616" cy="0"/>
          </a:xfrm>
          <a:prstGeom prst="line">
            <a:avLst/>
          </a:prstGeom>
          <a:noFill/>
          <a:ln w="19050">
            <a:solidFill>
              <a:srgbClr val="5F665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19"/>
          <p:cNvSpPr txBox="1"/>
          <p:nvPr/>
        </p:nvSpPr>
        <p:spPr>
          <a:xfrm>
            <a:off x="5897880" y="5975441"/>
            <a:ext cx="2621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fuzz 없음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9021928" y="5975441"/>
            <a:ext cx="2621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fuzz  왼쪽 0.3 · 오른쪽 1.0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Dielectrics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784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kern="0" spc="50" dirty="0">
                <a:solidFill>
                  <a:srgbClr val="5F66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유전체 — 굴절과 스넬의 법칙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329184"/>
            <a:ext cx="1401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00" dirty="0">
                <a:solidFill>
                  <a:srgbClr val="D2CEC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Ray Tracing in One Weekend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32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512064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548640" y="16184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1.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168249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유전체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1960245"/>
            <a:ext cx="4663440" cy="65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새로운 재질인 유전체가 추가된다. 유전체란 물, 유리, 다이아몬드와 같은 투명한 재질이다. 광선이 유전체에 부딪히면 반사 광선과 굴절 광선으로 나뉜다.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2757849"/>
            <a:ext cx="512064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548640" y="2821857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2.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2885865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굴절률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3163614"/>
            <a:ext cx="4663440" cy="241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굴절 광선이 굽어지는 정도인데, 재질에 따라 다르다.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551403"/>
            <a:ext cx="512064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548640" y="3615411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3.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" y="3679419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스넬의 법칙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005840" y="3957168"/>
            <a:ext cx="4663440" cy="44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굴절은 스넬의 법칙으로 계산한다. 증명을 이해하기보다 식을 그대로 코드에 적용한다고 생각한다.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4846320"/>
            <a:ext cx="5120640" cy="658368"/>
          </a:xfrm>
          <a:prstGeom prst="rect">
            <a:avLst/>
          </a:prstGeom>
          <a:solidFill>
            <a:srgbClr val="F3F1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548640" y="484632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η · sin θ = η′ · sin θ′</a:t>
            </a:r>
            <a:endParaRPr lang="en-US" sz="1800" dirty="0"/>
          </a:p>
        </p:txBody>
      </p:sp>
      <p:pic>
        <p:nvPicPr>
          <p:cNvPr id="22" name="Image 0" descr="Refract 함수 코드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600200"/>
            <a:ext cx="5516575" cy="1796094"/>
          </a:xfrm>
          <a:prstGeom prst="rect">
            <a:avLst/>
          </a:prstGeom>
        </p:spPr>
      </p:pic>
      <p:pic>
        <p:nvPicPr>
          <p:cNvPr id="23" name="Image 1" descr="R′⊥ 식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3624894"/>
            <a:ext cx="2194560" cy="488490"/>
          </a:xfrm>
          <a:prstGeom prst="rect">
            <a:avLst/>
          </a:prstGeom>
        </p:spPr>
      </p:pic>
      <p:pic>
        <p:nvPicPr>
          <p:cNvPr id="24" name="Image 2" descr="R′∥ 식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204824"/>
            <a:ext cx="2011680" cy="504749"/>
          </a:xfrm>
          <a:prstGeom prst="rect">
            <a:avLst/>
          </a:prstGeom>
        </p:spPr>
      </p:pic>
      <p:pic>
        <p:nvPicPr>
          <p:cNvPr id="25" name="Image 3" descr="항상 굴절만 한 결과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5535" y="3624894"/>
            <a:ext cx="3017520" cy="169735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8625535" y="5377113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항상 굴절만 하도록 하면 이렇게 된다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Dielectrics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784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kern="0" spc="50" dirty="0">
                <a:solidFill>
                  <a:srgbClr val="5F66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유전체 — 전반사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329184"/>
            <a:ext cx="1401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00" dirty="0">
                <a:solidFill>
                  <a:srgbClr val="D2CEC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Ray Tracing in One Weekend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33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530352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548640" y="16184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1.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168249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해가 없는 광선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1960245"/>
            <a:ext cx="4846320" cy="65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스넬의 법칙으로 해결할 수 없는 광선도 있다. 굴절각이 90°를 넘어야 하는 경우 sin θ′가 1보다 커져야 하므로 식이 성립하지 않는다. 예) 유리(1.5) → 공기(1.0): 1.5 · sin θ &gt; 1.0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2757849"/>
            <a:ext cx="530352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548640" y="2821857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2.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2885865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전반사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3163614"/>
            <a:ext cx="4846320" cy="241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이때는 광선을 굴절시키지 않고 반사하도록 하자.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551403"/>
            <a:ext cx="530352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548640" y="3615411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3.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" y="3679419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공기 방울로 확인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005840" y="3957168"/>
            <a:ext cx="4846320" cy="65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결과가 이전과 다르지 않은데, 공기보다 큰 굴절률을 가진 구에서는 광선이 나가는 지점 어디에서도 전반사를 일으킬 입사 각도가 없다. 그래서 물 안에 있는 공기 방울을 표현하도록 굴절률을 조절한다.</a:t>
            </a:r>
            <a:endParaRPr lang="en-US" sz="1150" dirty="0"/>
          </a:p>
        </p:txBody>
      </p:sp>
      <p:pic>
        <p:nvPicPr>
          <p:cNvPr id="20" name="Image 0" descr="sin θ′ &gt; 1 유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00200"/>
            <a:ext cx="2606040" cy="1788647"/>
          </a:xfrm>
          <a:prstGeom prst="rect">
            <a:avLst/>
          </a:prstGeom>
        </p:spPr>
      </p:pic>
      <p:pic>
        <p:nvPicPr>
          <p:cNvPr id="21" name="Image 1" descr="cannotRefract 코드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1600200"/>
            <a:ext cx="2544775" cy="1457876"/>
          </a:xfrm>
          <a:prstGeom prst="rect">
            <a:avLst/>
          </a:prstGeom>
        </p:spPr>
      </p:pic>
      <p:pic>
        <p:nvPicPr>
          <p:cNvPr id="22" name="Image 2" descr="유리구 결과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3708887"/>
            <a:ext cx="2438248" cy="1371514"/>
          </a:xfrm>
          <a:prstGeom prst="rect">
            <a:avLst/>
          </a:prstGeom>
        </p:spPr>
      </p:pic>
      <p:pic>
        <p:nvPicPr>
          <p:cNvPr id="23" name="Image 3" descr="공기 방울 결과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4808" y="3708887"/>
            <a:ext cx="2438248" cy="1371514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775040" y="4394645"/>
            <a:ext cx="356616" cy="0"/>
          </a:xfrm>
          <a:prstGeom prst="line">
            <a:avLst/>
          </a:prstGeom>
          <a:noFill/>
          <a:ln w="19050">
            <a:solidFill>
              <a:srgbClr val="5F665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8"/>
          <p:cNvSpPr txBox="1"/>
          <p:nvPr/>
        </p:nvSpPr>
        <p:spPr>
          <a:xfrm>
            <a:off x="6263640" y="5135266"/>
            <a:ext cx="2438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굴절률 1.5 — 이전과 동일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9204808" y="5135266"/>
            <a:ext cx="2529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굴절률 1.00 / 1.33 — 물 속 공기 방울</a:t>
            </a:r>
            <a:endParaRPr lang="en-US" sz="1000" dirty="0"/>
          </a:p>
        </p:txBody>
      </p:sp>
      <p:pic>
        <p:nvPicPr>
          <p:cNvPr id="27" name="Image 4" descr="materialLeft 설정 코드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0" y="5491882"/>
            <a:ext cx="5379415" cy="247111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Dielectrics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784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kern="0" spc="50" dirty="0">
                <a:solidFill>
                  <a:srgbClr val="5F66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유전체 — Schlick 근사와 속이 빈 유리구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329184"/>
            <a:ext cx="1401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00" dirty="0">
                <a:solidFill>
                  <a:srgbClr val="D2CEC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Ray Tracing in One Weekend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34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521208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548640" y="16184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1.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168249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Schlick 근사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1960245"/>
            <a:ext cx="4754880" cy="44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실제 유리는 각도에 따라 반사율이 달라지는데, 이것을 구현하기 위해 Schlick의 반사율 근사를 사용한다.</a:t>
            </a:r>
            <a:endParaRPr lang="en-US" sz="1150" dirty="0"/>
          </a:p>
        </p:txBody>
      </p:sp>
      <p:pic>
        <p:nvPicPr>
          <p:cNvPr id="12" name="Image 0" descr="Reflectance 코드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543797"/>
            <a:ext cx="4754880" cy="138598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48640" y="4121804"/>
            <a:ext cx="521208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548640" y="418581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2.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1005840" y="42498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속이 빈 유리구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527569"/>
            <a:ext cx="4754880" cy="44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왼쪽에 있는 구를 바깥은 유리(1.50), 안쪽은 공기(1.00 / 1.50)로 모델링한다.</a:t>
            </a:r>
            <a:endParaRPr lang="en-US" sz="1150" dirty="0"/>
          </a:p>
        </p:txBody>
      </p:sp>
      <p:pic>
        <p:nvPicPr>
          <p:cNvPr id="17" name="Image 1" descr="월드 구성 코드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5111121"/>
            <a:ext cx="2391104" cy="1106799"/>
          </a:xfrm>
          <a:prstGeom prst="rect">
            <a:avLst/>
          </a:prstGeom>
        </p:spPr>
      </p:pic>
      <p:pic>
        <p:nvPicPr>
          <p:cNvPr id="18" name="Image 2" descr="속이 빈 유리구 결과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600200"/>
            <a:ext cx="5425135" cy="3051639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217920" y="4724991"/>
            <a:ext cx="54251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왼쪽 구가 속이 빈 유리구 — 바깥은 유리, 안쪽은 공기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Positionable Camera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784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kern="0" spc="50" dirty="0">
                <a:solidFill>
                  <a:srgbClr val="5F66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위치 조정 가능한 카메라 — 시야각 (fov)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329184"/>
            <a:ext cx="1401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00" dirty="0">
                <a:solidFill>
                  <a:srgbClr val="D2CEC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12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Ray Tracing in One Weekend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35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493776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548640" y="16184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1.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16824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vFov 기준 뷰포트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1960245"/>
            <a:ext cx="4480560" cy="241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뷰포트는 이제 수직 시야각(vFov) 기준으로 계산된다.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2348033"/>
            <a:ext cx="493776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548640" y="2412041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2.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2476049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더 넓은 세상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2753798"/>
            <a:ext cx="4480560" cy="241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fov가 커지면 더 넓은 세상을 보게 된다.</a:t>
            </a:r>
            <a:endParaRPr lang="en-US" sz="1150" dirty="0"/>
          </a:p>
        </p:txBody>
      </p:sp>
      <p:pic>
        <p:nvPicPr>
          <p:cNvPr id="16" name="Image 0" descr="뷰포트 크기 계산 코드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46120"/>
            <a:ext cx="4937760" cy="954491"/>
          </a:xfrm>
          <a:prstGeom prst="rect">
            <a:avLst/>
          </a:prstGeom>
        </p:spPr>
      </p:pic>
      <p:pic>
        <p:nvPicPr>
          <p:cNvPr id="17" name="Image 1" descr="fov와 h 관계 그림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429211"/>
            <a:ext cx="1737360" cy="1802511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548640" y="4429211"/>
            <a:ext cx="1737360" cy="1802511"/>
          </a:xfrm>
          <a:prstGeom prst="rect">
            <a:avLst/>
          </a:prstGeom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4"/>
          <p:cNvSpPr/>
          <p:nvPr/>
        </p:nvSpPr>
        <p:spPr>
          <a:xfrm>
            <a:off x="2560320" y="4429211"/>
            <a:ext cx="2926080" cy="1802511"/>
          </a:xfrm>
          <a:prstGeom prst="rect">
            <a:avLst/>
          </a:prstGeom>
          <a:solidFill>
            <a:srgbClr val="F3F1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5"/>
          <p:cNvSpPr txBox="1"/>
          <p:nvPr/>
        </p:nvSpPr>
        <p:spPr>
          <a:xfrm>
            <a:off x="2743200" y="4429211"/>
            <a:ext cx="2651760" cy="1802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h = tan(θ / 2)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viewportHeight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= 2 · h · focalLength</a:t>
            </a:r>
            <a:endParaRPr lang="en-US" sz="1300" dirty="0"/>
          </a:p>
        </p:txBody>
      </p:sp>
      <p:pic>
        <p:nvPicPr>
          <p:cNvPr id="21" name="Image 2" descr="fov 90 결과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1600200"/>
            <a:ext cx="3916375" cy="2202961"/>
          </a:xfrm>
          <a:prstGeom prst="rect">
            <a:avLst/>
          </a:prstGeom>
        </p:spPr>
      </p:pic>
      <p:pic>
        <p:nvPicPr>
          <p:cNvPr id="22" name="Image 3" descr="fov 120 결과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6680" y="4031761"/>
            <a:ext cx="3916375" cy="2202961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446520" y="1645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7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fov 90°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6446520" y="4077481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7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fov 120°</a:t>
            </a:r>
            <a:endParaRPr lang="en-US" sz="1700" dirty="0"/>
          </a:p>
        </p:txBody>
      </p:sp>
      <p:sp>
        <p:nvSpPr>
          <p:cNvPr id="25" name="Text 18"/>
          <p:cNvSpPr txBox="1"/>
          <p:nvPr/>
        </p:nvSpPr>
        <p:spPr>
          <a:xfrm>
            <a:off x="6446520" y="4461529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더 넓게 보인다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Positionable Camera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784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kern="0" spc="50" dirty="0">
                <a:solidFill>
                  <a:srgbClr val="5F66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위치 조정 가능한 카메라 — look_from, look_at, u · v · w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329184"/>
            <a:ext cx="1401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00" dirty="0">
                <a:solidFill>
                  <a:srgbClr val="D2CEC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12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Ray Tracing in One Weekend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36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48640" y="1600200"/>
            <a:ext cx="566928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548640" y="1673352"/>
            <a:ext cx="1097280" cy="22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look_from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783080" y="1673352"/>
            <a:ext cx="4434840" cy="22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카메라의 위치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1973966"/>
            <a:ext cx="566928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548640" y="2047118"/>
            <a:ext cx="1097280" cy="22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look_at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1783080" y="2047118"/>
            <a:ext cx="4434840" cy="22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카메라가 바라보는 점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2347732"/>
            <a:ext cx="566928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548640" y="2420884"/>
            <a:ext cx="1097280" cy="609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view_up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783080" y="2420884"/>
            <a:ext cx="4434840" cy="609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카메라의 위쪽을 가리키는 벡터(수직이 아닐 수도 있다). 뷰 방향과 평행하지만 않다면 어떤 벡터든 지정할 수 있다. 월드 Y축 (0, 1, 0)을 사용하지만 꼭 그럴 필요는 없다.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3103270"/>
            <a:ext cx="566928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548640" y="3176422"/>
            <a:ext cx="1097280" cy="22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783080" y="3176422"/>
            <a:ext cx="4434840" cy="22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카메라 오른쪽 단위 벡터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3477036"/>
            <a:ext cx="566928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548640" y="3550188"/>
            <a:ext cx="1097280" cy="22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783080" y="3550188"/>
            <a:ext cx="4434840" cy="22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카메라 위쪽 단위 벡터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3850803"/>
            <a:ext cx="566928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548640" y="3923955"/>
            <a:ext cx="1097280" cy="22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783080" y="3923955"/>
            <a:ext cx="4434840" cy="22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뷰 방향의 반대를 가리키는 단위 벡터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48640" y="4224569"/>
            <a:ext cx="566928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548640" y="4361729"/>
            <a:ext cx="5669280" cy="445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u, v, w는 서로 직교한다(정규 직교 기저). 지금까지 카메라가 −Z 방향을 바라봤다면, 임의의 뷰 카메라는 −w 방향을 바라본다.</a:t>
            </a:r>
            <a:endParaRPr lang="en-US" sz="1100" dirty="0"/>
          </a:p>
        </p:txBody>
      </p:sp>
      <p:pic>
        <p:nvPicPr>
          <p:cNvPr id="28" name="Image 0" descr="u, v, w 계산 코드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944506"/>
            <a:ext cx="4023360" cy="804672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4800600" y="4944506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5F66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이제 카메라 시점을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5F66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바꿔보자 →</a:t>
            </a:r>
            <a:endParaRPr lang="en-US" sz="1100" dirty="0"/>
          </a:p>
        </p:txBody>
      </p:sp>
      <p:pic>
        <p:nvPicPr>
          <p:cNvPr id="30" name="Image 1" descr="look_from, look_at 필기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600200"/>
            <a:ext cx="4663440" cy="2331720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6629400" y="1600200"/>
            <a:ext cx="4663440" cy="2331720"/>
          </a:xfrm>
          <a:prstGeom prst="rect">
            <a:avLst/>
          </a:prstGeom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7"/>
          <p:cNvSpPr/>
          <p:nvPr/>
        </p:nvSpPr>
        <p:spPr>
          <a:xfrm>
            <a:off x="6949440" y="5394960"/>
            <a:ext cx="1234440" cy="0"/>
          </a:xfrm>
          <a:prstGeom prst="line">
            <a:avLst/>
          </a:prstGeom>
          <a:noFill/>
          <a:ln w="19050">
            <a:solidFill>
              <a:srgbClr val="5F665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8"/>
          <p:cNvSpPr txBox="1"/>
          <p:nvPr/>
        </p:nvSpPr>
        <p:spPr>
          <a:xfrm>
            <a:off x="8229600" y="5266944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 flipV="1">
            <a:off x="6949440" y="4389120"/>
            <a:ext cx="0" cy="1005840"/>
          </a:xfrm>
          <a:prstGeom prst="line">
            <a:avLst/>
          </a:prstGeom>
          <a:noFill/>
          <a:ln w="19050">
            <a:solidFill>
              <a:srgbClr val="C8744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0"/>
          <p:cNvSpPr/>
          <p:nvPr/>
        </p:nvSpPr>
        <p:spPr>
          <a:xfrm flipV="1">
            <a:off x="6949440" y="4480560"/>
            <a:ext cx="411480" cy="914400"/>
          </a:xfrm>
          <a:prstGeom prst="line">
            <a:avLst/>
          </a:prstGeom>
          <a:noFill/>
          <a:ln w="15875">
            <a:solidFill>
              <a:srgbClr val="C8744F">
                <a:alpha val="60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1"/>
          <p:cNvSpPr/>
          <p:nvPr/>
        </p:nvSpPr>
        <p:spPr>
          <a:xfrm flipH="1" flipV="1">
            <a:off x="6629400" y="4526280"/>
            <a:ext cx="320040" cy="868680"/>
          </a:xfrm>
          <a:prstGeom prst="line">
            <a:avLst/>
          </a:prstGeom>
          <a:noFill/>
          <a:ln w="15875">
            <a:solidFill>
              <a:srgbClr val="C8744F">
                <a:alpha val="60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2"/>
          <p:cNvSpPr txBox="1"/>
          <p:nvPr/>
        </p:nvSpPr>
        <p:spPr>
          <a:xfrm>
            <a:off x="6492240" y="40690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87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view_up</a:t>
            </a:r>
            <a:endParaRPr lang="en-US" sz="1050" dirty="0"/>
          </a:p>
        </p:txBody>
      </p:sp>
      <p:sp>
        <p:nvSpPr>
          <p:cNvPr id="38" name="Text 33"/>
          <p:cNvSpPr txBox="1"/>
          <p:nvPr/>
        </p:nvSpPr>
        <p:spPr>
          <a:xfrm>
            <a:off x="6629400" y="5577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어떤 view_up을 써도 외적하면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수직인 벡터가 나온다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8869680" y="4800600"/>
            <a:ext cx="548640" cy="548640"/>
          </a:xfrm>
          <a:prstGeom prst="ellipse">
            <a:avLst/>
          </a:prstGeom>
          <a:solidFill>
            <a:srgbClr val="A8AEA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5"/>
          <p:cNvSpPr txBox="1"/>
          <p:nvPr/>
        </p:nvSpPr>
        <p:spPr>
          <a:xfrm>
            <a:off x="8686800" y="54132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look_at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 rot="5400000">
            <a:off x="10424160" y="4800600"/>
            <a:ext cx="640080" cy="548640"/>
          </a:xfrm>
          <a:prstGeom prst="trapezoid">
            <a:avLst/>
          </a:prstGeom>
          <a:solidFill>
            <a:srgbClr val="E7E2DC"/>
          </a:solidFill>
          <a:ln w="12700">
            <a:solidFill>
              <a:srgbClr val="5F66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7"/>
          <p:cNvSpPr/>
          <p:nvPr/>
        </p:nvSpPr>
        <p:spPr>
          <a:xfrm>
            <a:off x="9436608" y="5074920"/>
            <a:ext cx="987552" cy="0"/>
          </a:xfrm>
          <a:prstGeom prst="line">
            <a:avLst/>
          </a:prstGeom>
          <a:noFill/>
          <a:ln w="12700">
            <a:solidFill>
              <a:srgbClr val="A8AEA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8"/>
          <p:cNvSpPr/>
          <p:nvPr/>
        </p:nvSpPr>
        <p:spPr>
          <a:xfrm>
            <a:off x="10744200" y="5074920"/>
            <a:ext cx="548640" cy="0"/>
          </a:xfrm>
          <a:prstGeom prst="line">
            <a:avLst/>
          </a:prstGeom>
          <a:noFill/>
          <a:ln w="19050">
            <a:solidFill>
              <a:srgbClr val="5F665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9"/>
          <p:cNvSpPr txBox="1"/>
          <p:nvPr/>
        </p:nvSpPr>
        <p:spPr>
          <a:xfrm>
            <a:off x="11329416" y="4946904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1100" dirty="0"/>
          </a:p>
        </p:txBody>
      </p:sp>
      <p:sp>
        <p:nvSpPr>
          <p:cNvPr id="45" name="Shape 40"/>
          <p:cNvSpPr/>
          <p:nvPr/>
        </p:nvSpPr>
        <p:spPr>
          <a:xfrm flipV="1">
            <a:off x="10744200" y="4297680"/>
            <a:ext cx="0" cy="777240"/>
          </a:xfrm>
          <a:prstGeom prst="line">
            <a:avLst/>
          </a:prstGeom>
          <a:noFill/>
          <a:ln w="19050">
            <a:solidFill>
              <a:srgbClr val="5F665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1"/>
          <p:cNvSpPr txBox="1"/>
          <p:nvPr/>
        </p:nvSpPr>
        <p:spPr>
          <a:xfrm>
            <a:off x="10799064" y="411480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1100" dirty="0"/>
          </a:p>
        </p:txBody>
      </p:sp>
      <p:sp>
        <p:nvSpPr>
          <p:cNvPr id="47" name="Shape 42"/>
          <p:cNvSpPr/>
          <p:nvPr/>
        </p:nvSpPr>
        <p:spPr>
          <a:xfrm flipV="1">
            <a:off x="10744200" y="4617720"/>
            <a:ext cx="411480" cy="457200"/>
          </a:xfrm>
          <a:prstGeom prst="line">
            <a:avLst/>
          </a:prstGeom>
          <a:noFill/>
          <a:ln w="19050">
            <a:solidFill>
              <a:srgbClr val="5F665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3"/>
          <p:cNvSpPr txBox="1"/>
          <p:nvPr/>
        </p:nvSpPr>
        <p:spPr>
          <a:xfrm>
            <a:off x="11183112" y="43799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endParaRPr lang="en-US" sz="1100" dirty="0"/>
          </a:p>
        </p:txBody>
      </p:sp>
      <p:sp>
        <p:nvSpPr>
          <p:cNvPr id="49" name="Shape 44"/>
          <p:cNvSpPr/>
          <p:nvPr/>
        </p:nvSpPr>
        <p:spPr>
          <a:xfrm flipH="1" flipV="1">
            <a:off x="10515600" y="4343400"/>
            <a:ext cx="228600" cy="731520"/>
          </a:xfrm>
          <a:prstGeom prst="line">
            <a:avLst/>
          </a:prstGeom>
          <a:noFill/>
          <a:ln w="15875">
            <a:solidFill>
              <a:srgbClr val="C8744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5"/>
          <p:cNvSpPr txBox="1"/>
          <p:nvPr/>
        </p:nvSpPr>
        <p:spPr>
          <a:xfrm>
            <a:off x="9555480" y="4114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C87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view_up</a:t>
            </a:r>
            <a:endParaRPr lang="en-US" sz="1000" dirty="0"/>
          </a:p>
        </p:txBody>
      </p:sp>
      <p:sp>
        <p:nvSpPr>
          <p:cNvPr id="51" name="Text 46"/>
          <p:cNvSpPr txBox="1"/>
          <p:nvPr/>
        </p:nvSpPr>
        <p:spPr>
          <a:xfrm>
            <a:off x="10287000" y="54132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look_from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Positionable Camera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784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kern="0" spc="50" dirty="0">
                <a:solidFill>
                  <a:srgbClr val="5F66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위치 조정 가능한 카메라 — 시점 바꾸기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329184"/>
            <a:ext cx="1401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00" dirty="0">
                <a:solidFill>
                  <a:srgbClr val="D2CEC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12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Ray Tracing in One Weekend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37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72768"/>
            <a:ext cx="10058400" cy="278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lookFrom (−2, 2, 1)에서 lookAt (0, 0, −1)을 바라보도록 시점을 바꾼 결과. 시야각을 20°로 좁히면 확대한 것처럼 보인다.</a:t>
            </a:r>
            <a:endParaRPr lang="en-US" sz="1300" dirty="0"/>
          </a:p>
        </p:txBody>
      </p:sp>
      <p:pic>
        <p:nvPicPr>
          <p:cNvPr id="9" name="Image 0" descr="vFov 90 결과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77440"/>
            <a:ext cx="4198468" cy="2361638"/>
          </a:xfrm>
          <a:prstGeom prst="rect">
            <a:avLst/>
          </a:prstGeom>
        </p:spPr>
      </p:pic>
      <p:pic>
        <p:nvPicPr>
          <p:cNvPr id="10" name="Image 1" descr="vFov 20 결과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1428" y="2377440"/>
            <a:ext cx="4198468" cy="2361638"/>
          </a:xfrm>
          <a:prstGeom prst="rect">
            <a:avLst/>
          </a:prstGeom>
        </p:spPr>
      </p:pic>
      <p:pic>
        <p:nvPicPr>
          <p:cNvPr id="11" name="Image 2" descr="카메라 설정 코드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4215" y="2377440"/>
            <a:ext cx="2148840" cy="1933956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548640" y="4876238"/>
            <a:ext cx="41984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vFov 90°</a:t>
            </a:r>
            <a:endParaRPr lang="en-US" sz="1600" dirty="0"/>
          </a:p>
        </p:txBody>
      </p:sp>
      <p:sp>
        <p:nvSpPr>
          <p:cNvPr id="13" name="Text 7"/>
          <p:cNvSpPr txBox="1"/>
          <p:nvPr/>
        </p:nvSpPr>
        <p:spPr>
          <a:xfrm>
            <a:off x="5021428" y="4876238"/>
            <a:ext cx="41984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vFov 20°</a:t>
            </a:r>
            <a:endParaRPr lang="en-US" sz="1600" dirty="0"/>
          </a:p>
        </p:txBody>
      </p:sp>
      <p:sp>
        <p:nvSpPr>
          <p:cNvPr id="14" name="Text 8"/>
          <p:cNvSpPr txBox="1"/>
          <p:nvPr/>
        </p:nvSpPr>
        <p:spPr>
          <a:xfrm>
            <a:off x="9494215" y="492195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카메라 설정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Defocus Blur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784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kern="0" spc="50" dirty="0">
                <a:solidFill>
                  <a:srgbClr val="5F66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초점 흐림 — 초점 평면과 거리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329184"/>
            <a:ext cx="1401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00" dirty="0">
                <a:solidFill>
                  <a:srgbClr val="D2CEC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13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Ray Tracing in One Weekend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38</a:t>
            </a:r>
            <a:endParaRPr lang="en-US" sz="850" dirty="0"/>
          </a:p>
        </p:txBody>
      </p:sp>
      <p:pic>
        <p:nvPicPr>
          <p:cNvPr id="8" name="Image 0" descr="카메라 내부와 외부 그림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3017520" cy="2244281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1600200"/>
            <a:ext cx="3017520" cy="2244281"/>
          </a:xfrm>
          <a:prstGeom prst="rect">
            <a:avLst/>
          </a:prstGeom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 txBox="1"/>
          <p:nvPr/>
        </p:nvSpPr>
        <p:spPr>
          <a:xfrm>
            <a:off x="548640" y="3917633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카메라 내부 · 외부 모습 — 구현할 때 내부는 시뮬레이션하지 않는다</a:t>
            </a:r>
            <a:endParaRPr lang="en-US" sz="1000" dirty="0"/>
          </a:p>
        </p:txBody>
      </p:sp>
      <p:pic>
        <p:nvPicPr>
          <p:cNvPr id="11" name="Image 1" descr="가상 필름 평면 그림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484561"/>
            <a:ext cx="3017520" cy="137674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48640" y="4484561"/>
            <a:ext cx="3017520" cy="1376744"/>
          </a:xfrm>
          <a:prstGeom prst="rect">
            <a:avLst/>
          </a:prstGeom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8"/>
          <p:cNvSpPr txBox="1"/>
          <p:nvPr/>
        </p:nvSpPr>
        <p:spPr>
          <a:xfrm>
            <a:off x="548640" y="59344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초점 평면에 놓인 가상의 필름 평면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023360" y="1600200"/>
            <a:ext cx="7619695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/>
          <p:cNvSpPr txBox="1"/>
          <p:nvPr/>
        </p:nvSpPr>
        <p:spPr>
          <a:xfrm>
            <a:off x="4023360" y="1728216"/>
            <a:ext cx="1691640" cy="244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초점 평면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5852160" y="1728216"/>
            <a:ext cx="5790895" cy="244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모든 것이 완벽하게 초점이 맞는 평면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023360" y="2101047"/>
            <a:ext cx="7619695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3"/>
          <p:cNvSpPr txBox="1"/>
          <p:nvPr/>
        </p:nvSpPr>
        <p:spPr>
          <a:xfrm>
            <a:off x="4023360" y="2229063"/>
            <a:ext cx="1691640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초점 거리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focus_dist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5852160" y="2229063"/>
            <a:ext cx="5790895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카메라 중심과 초점 평면 사이의 거리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023360" y="2774655"/>
            <a:ext cx="7619695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6"/>
          <p:cNvSpPr txBox="1"/>
          <p:nvPr/>
        </p:nvSpPr>
        <p:spPr>
          <a:xfrm>
            <a:off x="4023360" y="2902671"/>
            <a:ext cx="1691640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초점 길이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focal_length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5852160" y="2902671"/>
            <a:ext cx="5790895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카메라 중심과 이미지 평면 사이의 거리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023360" y="3448263"/>
            <a:ext cx="7619695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9"/>
          <p:cNvSpPr/>
          <p:nvPr/>
        </p:nvSpPr>
        <p:spPr>
          <a:xfrm>
            <a:off x="4023360" y="3768303"/>
            <a:ext cx="7619695" cy="1097280"/>
          </a:xfrm>
          <a:prstGeom prst="rect">
            <a:avLst/>
          </a:prstGeom>
          <a:solidFill>
            <a:srgbClr val="F3F1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0"/>
          <p:cNvSpPr txBox="1"/>
          <p:nvPr/>
        </p:nvSpPr>
        <p:spPr>
          <a:xfrm>
            <a:off x="4297680" y="3905463"/>
            <a:ext cx="7071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focus_dist ≠ focal_length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4297680" y="4289511"/>
            <a:ext cx="7071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두 값은 원래 같지 않지만, 이 책에서는 픽셀 그리드를 초점 평면에 바로 배치할 것이라서 두 값이 같다.</a:t>
            </a:r>
            <a:endParaRPr lang="en-US" sz="11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Defocus Blur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784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kern="0" spc="50" dirty="0">
                <a:solidFill>
                  <a:srgbClr val="5F66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초점 흐림 — Defocus 디스크와 원뿔 각도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329184"/>
            <a:ext cx="1401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00" dirty="0">
                <a:solidFill>
                  <a:srgbClr val="D2CEC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13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Ray Tracing in One Weekend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39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521208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548640" y="16184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1.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168249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Defocus 디스크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1960245"/>
            <a:ext cx="4754880" cy="44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Defocus Blur를 구현하기 위해서 카메라 중심을 중심으로 하는 디스크를 만든다. 디스크의 반지름이 클수록 Defocus Blur가 더 커진다.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2552941"/>
            <a:ext cx="521208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548640" y="2616949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2.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2680957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원뿔 각도로 지정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2958706"/>
            <a:ext cx="4754880" cy="65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디스크의 반지름을 매개변수로 가질 수도 있지만, 뷰포트 중심을 꼭짓점으로 하고 Defocus 디스크를 밑면으로 하는 원뿔의 각도를 정한다. 이렇게 하면 특정 샷에 대해 초점 거리를 변경할 때 더 일관된 결과를 얻을 수 있다.</a:t>
            </a:r>
            <a:endParaRPr lang="en-US" sz="1150" dirty="0"/>
          </a:p>
        </p:txBody>
      </p:sp>
      <p:pic>
        <p:nvPicPr>
          <p:cNvPr id="16" name="Image 0" descr="defocusRadius 계산 코드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343400"/>
            <a:ext cx="4754880" cy="1054401"/>
          </a:xfrm>
          <a:prstGeom prst="rect">
            <a:avLst/>
          </a:prstGeom>
        </p:spPr>
      </p:pic>
      <p:pic>
        <p:nvPicPr>
          <p:cNvPr id="17" name="Image 1" descr="defocusRadius 디버거 값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507529"/>
            <a:ext cx="4754880" cy="18961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48640" y="5752005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디버거로 확인한 defocusRadius 값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583680" y="2606040"/>
            <a:ext cx="365760" cy="1920240"/>
          </a:xfrm>
          <a:prstGeom prst="ellipse">
            <a:avLst/>
          </a:prstGeom>
          <a:solidFill>
            <a:srgbClr val="D2CEC4"/>
          </a:solidFill>
          <a:ln w="12700">
            <a:solidFill>
              <a:srgbClr val="5F66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6766560" y="2606040"/>
            <a:ext cx="4206240" cy="960120"/>
          </a:xfrm>
          <a:prstGeom prst="line">
            <a:avLst/>
          </a:prstGeom>
          <a:noFill/>
          <a:ln w="12700">
            <a:solidFill>
              <a:srgbClr val="5F66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6"/>
          <p:cNvSpPr/>
          <p:nvPr/>
        </p:nvSpPr>
        <p:spPr>
          <a:xfrm flipV="1">
            <a:off x="6766560" y="3566160"/>
            <a:ext cx="4206240" cy="960120"/>
          </a:xfrm>
          <a:prstGeom prst="line">
            <a:avLst/>
          </a:prstGeom>
          <a:noFill/>
          <a:ln w="12700">
            <a:solidFill>
              <a:srgbClr val="5F66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/>
          <p:cNvSpPr/>
          <p:nvPr/>
        </p:nvSpPr>
        <p:spPr>
          <a:xfrm>
            <a:off x="6766560" y="3566160"/>
            <a:ext cx="4206240" cy="0"/>
          </a:xfrm>
          <a:prstGeom prst="line">
            <a:avLst/>
          </a:prstGeom>
          <a:noFill/>
          <a:ln w="12700">
            <a:solidFill>
              <a:srgbClr val="A8AEA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10972800" y="2103120"/>
            <a:ext cx="0" cy="2926080"/>
          </a:xfrm>
          <a:prstGeom prst="line">
            <a:avLst/>
          </a:prstGeom>
          <a:noFill/>
          <a:ln w="1587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9"/>
          <p:cNvSpPr txBox="1"/>
          <p:nvPr/>
        </p:nvSpPr>
        <p:spPr>
          <a:xfrm>
            <a:off x="10789920" y="1554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초점 평면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(뷰포트)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10908792" y="3502152"/>
            <a:ext cx="128016" cy="128016"/>
          </a:xfrm>
          <a:prstGeom prst="ellipse">
            <a:avLst/>
          </a:prstGeom>
          <a:solidFill>
            <a:srgbClr val="C8744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1"/>
          <p:cNvSpPr/>
          <p:nvPr/>
        </p:nvSpPr>
        <p:spPr>
          <a:xfrm>
            <a:off x="9966960" y="2560320"/>
            <a:ext cx="2011680" cy="2011680"/>
          </a:xfrm>
          <a:prstGeom prst="arc">
            <a:avLst>
              <a:gd name="adj1" fmla="val 10080000"/>
              <a:gd name="adj2" fmla="val 11520000"/>
            </a:avLst>
          </a:prstGeom>
          <a:ln w="15875">
            <a:solidFill>
              <a:srgbClr val="C874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2"/>
          <p:cNvSpPr txBox="1"/>
          <p:nvPr/>
        </p:nvSpPr>
        <p:spPr>
          <a:xfrm>
            <a:off x="8275320" y="360273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50" dirty="0">
                <a:solidFill>
                  <a:srgbClr val="C87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defocus_angle</a:t>
            </a:r>
            <a:endParaRPr lang="en-US" sz="1050" dirty="0"/>
          </a:p>
        </p:txBody>
      </p:sp>
      <p:sp>
        <p:nvSpPr>
          <p:cNvPr id="28" name="Text 23"/>
          <p:cNvSpPr txBox="1"/>
          <p:nvPr/>
        </p:nvSpPr>
        <p:spPr>
          <a:xfrm>
            <a:off x="6035040" y="46360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defocus disk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 flipV="1">
            <a:off x="6355080" y="2606040"/>
            <a:ext cx="0" cy="960120"/>
          </a:xfrm>
          <a:prstGeom prst="line">
            <a:avLst/>
          </a:prstGeom>
          <a:noFill/>
          <a:ln w="12700">
            <a:solidFill>
              <a:srgbClr val="5F665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5"/>
          <p:cNvSpPr txBox="1"/>
          <p:nvPr/>
        </p:nvSpPr>
        <p:spPr>
          <a:xfrm>
            <a:off x="5623560" y="296722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radius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6766560" y="5029200"/>
            <a:ext cx="4206240" cy="0"/>
          </a:xfrm>
          <a:prstGeom prst="line">
            <a:avLst/>
          </a:prstGeom>
          <a:noFill/>
          <a:ln w="12700">
            <a:solidFill>
              <a:srgbClr val="5F6657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7"/>
          <p:cNvSpPr txBox="1"/>
          <p:nvPr/>
        </p:nvSpPr>
        <p:spPr>
          <a:xfrm>
            <a:off x="8138160" y="50932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focus_dist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6263640" y="5532120"/>
            <a:ext cx="5379415" cy="566928"/>
          </a:xfrm>
          <a:prstGeom prst="rect">
            <a:avLst/>
          </a:prstGeom>
          <a:solidFill>
            <a:srgbClr val="F3F1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9"/>
          <p:cNvSpPr txBox="1"/>
          <p:nvPr/>
        </p:nvSpPr>
        <p:spPr>
          <a:xfrm>
            <a:off x="6263640" y="5532120"/>
            <a:ext cx="5379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radius = focus_dist · tan(defocus_angle / 2)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Defocus Blur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784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kern="0" spc="50" dirty="0">
                <a:solidFill>
                  <a:srgbClr val="5F66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초점 흐림 — 구현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329184"/>
            <a:ext cx="1401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00" dirty="0">
                <a:solidFill>
                  <a:srgbClr val="D2CEC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13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Ray Tracing in One Weekend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40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48640" y="1600200"/>
            <a:ext cx="11094415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548640" y="17099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1.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17647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디스크 위 무작위 점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2130552"/>
            <a:ext cx="4389120" cy="464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디스크에서 무작위 점을 고르는 데 원에서 고르는 것이므로, 무작위 2차원 좌표를 생성하는 것과 같다.</a:t>
            </a:r>
            <a:endParaRPr lang="en-US" sz="1150" dirty="0"/>
          </a:p>
        </p:txBody>
      </p:sp>
      <p:pic>
        <p:nvPicPr>
          <p:cNvPr id="12" name="Image 0" descr="디스크 위 무작위 점 코드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6895" y="1783080"/>
            <a:ext cx="3566160" cy="1461697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48640" y="3445945"/>
            <a:ext cx="11094415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548640" y="3555673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2.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1005840" y="3610537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광선의 시작점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3976297"/>
            <a:ext cx="4389120" cy="464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defocus_angle이 0 이하면 카메라 중심에서, 아니면 Defocus 디스크 위의 무작위 점에서 광선을 쏜다.</a:t>
            </a:r>
            <a:endParaRPr lang="en-US" sz="1150" dirty="0"/>
          </a:p>
        </p:txBody>
      </p:sp>
      <p:pic>
        <p:nvPicPr>
          <p:cNvPr id="17" name="Image 1" descr="광선의 시작점 코드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0895" y="3628825"/>
            <a:ext cx="5852160" cy="562415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548640" y="4641675"/>
            <a:ext cx="11094415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4"/>
          <p:cNvSpPr txBox="1"/>
          <p:nvPr/>
        </p:nvSpPr>
        <p:spPr>
          <a:xfrm>
            <a:off x="548640" y="4751403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3.</a:t>
            </a:r>
            <a:endParaRPr lang="en-US" sz="1900" dirty="0"/>
          </a:p>
        </p:txBody>
      </p:sp>
      <p:sp>
        <p:nvSpPr>
          <p:cNvPr id="20" name="Text 15"/>
          <p:cNvSpPr txBox="1"/>
          <p:nvPr/>
        </p:nvSpPr>
        <p:spPr>
          <a:xfrm>
            <a:off x="1005840" y="4806267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이전 구현과의 관계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1005840" y="5172027"/>
            <a:ext cx="4389120" cy="464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이전 구현은 디스크의 반지름 길이가 0인 Defocus 디스크였던 것을 알 수 있다.</a:t>
            </a:r>
            <a:endParaRPr lang="en-US" sz="1150" dirty="0"/>
          </a:p>
        </p:txBody>
      </p:sp>
      <p:pic>
        <p:nvPicPr>
          <p:cNvPr id="22" name="Image 2" descr="이전 구현과의 관계 코드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0895" y="4824555"/>
            <a:ext cx="5852160" cy="1013541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548640" y="6039265"/>
            <a:ext cx="11094415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Defocus Blur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784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kern="0" spc="50" dirty="0">
                <a:solidFill>
                  <a:srgbClr val="5F66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초점 흐림 — 결과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329184"/>
            <a:ext cx="1401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00" dirty="0">
                <a:solidFill>
                  <a:srgbClr val="D2CEC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13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Ray Tracing in One Weekend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41</a:t>
            </a:r>
            <a:endParaRPr lang="en-US" sz="850" dirty="0"/>
          </a:p>
        </p:txBody>
      </p:sp>
      <p:pic>
        <p:nvPicPr>
          <p:cNvPr id="8" name="Image 0" descr="초점 흐림 적용 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5166360" cy="2906078"/>
          </a:xfrm>
          <a:prstGeom prst="rect">
            <a:avLst/>
          </a:prstGeom>
        </p:spPr>
      </p:pic>
      <p:pic>
        <p:nvPicPr>
          <p:cNvPr id="9" name="Image 1" descr="초점 흐림 적용 후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6695" y="1828800"/>
            <a:ext cx="5166360" cy="2906078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852160" y="3281839"/>
            <a:ext cx="487375" cy="0"/>
          </a:xfrm>
          <a:prstGeom prst="line">
            <a:avLst/>
          </a:prstGeom>
          <a:noFill/>
          <a:ln w="19050">
            <a:solidFill>
              <a:srgbClr val="5F665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6"/>
          <p:cNvSpPr txBox="1"/>
          <p:nvPr/>
        </p:nvSpPr>
        <p:spPr>
          <a:xfrm>
            <a:off x="548640" y="496347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Before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5374958"/>
            <a:ext cx="5166360" cy="250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초점 흐림 없음 — 모든 물체가 선명하다.</a:t>
            </a:r>
            <a:endParaRPr lang="en-US" sz="1150" dirty="0"/>
          </a:p>
        </p:txBody>
      </p:sp>
      <p:sp>
        <p:nvSpPr>
          <p:cNvPr id="13" name="Text 8"/>
          <p:cNvSpPr txBox="1"/>
          <p:nvPr/>
        </p:nvSpPr>
        <p:spPr>
          <a:xfrm>
            <a:off x="6476695" y="496347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After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6476695" y="5374958"/>
            <a:ext cx="5166360" cy="250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Defocus Blur 적용 — 초점 평면에서 벗어난 물체가 흐려진다.</a:t>
            </a:r>
            <a:endParaRPr lang="en-US" sz="11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Final Render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784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kern="0" spc="50" dirty="0">
                <a:solidFill>
                  <a:srgbClr val="5F66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최종 렌더 — 무작위 구 장면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329184"/>
            <a:ext cx="1401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00" dirty="0">
                <a:solidFill>
                  <a:srgbClr val="D2CEC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14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Ray Tracing in One Weekend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42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475488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548640" y="16184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1.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168249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장면 구성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1960245"/>
            <a:ext cx="4297680" cy="44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22 × 22 격자에 작은 구를 무작위로 배치한다(확산 80% · 금속 15% · 유리 5%). 가운데에 큰 구 3개(유리 · 확산 · 금속)를 둔다.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2552941"/>
            <a:ext cx="475488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548640" y="2616949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2.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2680957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해상도와 샘플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2958706"/>
            <a:ext cx="4297680" cy="44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1200 × 675, 최대 반사 깊이 50. 픽셀당 샘플링을 10회에서 500회로 늘려 노이즈를 없앴다.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551403"/>
            <a:ext cx="475488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548640" y="3615411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3.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" y="3679419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카메라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005840" y="3957168"/>
            <a:ext cx="4297680" cy="241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vFov 20°, lookFrom (13, 2, 3) → lookAt (0, 0, 0)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4344956"/>
            <a:ext cx="4754880" cy="0"/>
          </a:xfrm>
          <a:prstGeom prst="line">
            <a:avLst/>
          </a:prstGeom>
          <a:noFill/>
          <a:ln w="9525">
            <a:solidFill>
              <a:srgbClr val="D8D8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548640" y="440896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4.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1005840" y="44729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초점 흐림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005840" y="4750721"/>
            <a:ext cx="4297680" cy="241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defocus_angle 0.6, focus_dist 10</a:t>
            </a:r>
            <a:endParaRPr lang="en-US" sz="1150" dirty="0"/>
          </a:p>
        </p:txBody>
      </p:sp>
      <p:pic>
        <p:nvPicPr>
          <p:cNvPr id="24" name="Image 0" descr="샘플링 10회 렌더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600200"/>
            <a:ext cx="5973775" cy="3360249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5852160" y="4393521"/>
            <a:ext cx="1325880" cy="384048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2"/>
          <p:cNvSpPr txBox="1"/>
          <p:nvPr/>
        </p:nvSpPr>
        <p:spPr>
          <a:xfrm>
            <a:off x="5852160" y="4393521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10 spp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5669280" y="5033601"/>
            <a:ext cx="5973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픽셀당 샘플링 10회 — 노이즈가 남아 있다. 500회 결과는 다음 장.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최종 렌더 결과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806440"/>
            <a:ext cx="5120640" cy="566928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777240" y="580644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Final Render</a:t>
            </a:r>
            <a:r>
              <a:rPr lang="en-US" sz="1050" dirty="0">
                <a:solidFill>
                  <a:srgbClr val="57575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   1200 × 675  ·  500 spp  ·  max depth 50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4529</Words>
  <Application>Microsoft Office PowerPoint</Application>
  <PresentationFormat>와이드스크린</PresentationFormat>
  <Paragraphs>824</Paragraphs>
  <Slides>43</Slides>
  <Notes>43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43</vt:i4>
      </vt:variant>
    </vt:vector>
  </HeadingPairs>
  <TitlesOfParts>
    <vt:vector size="48" baseType="lpstr">
      <vt:lpstr>Noto Serif KR</vt:lpstr>
      <vt:lpstr>Pretendard Variable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Ray Tracing in One Weekend</dc:title>
  <dc:subject>PptxGenJS Presentation</dc:subject>
  <dc:creator>이종진</dc:creator>
  <cp:lastModifiedBy>종진 이</cp:lastModifiedBy>
  <cp:revision>2</cp:revision>
  <dcterms:created xsi:type="dcterms:W3CDTF">2026-09-28T15:53:03Z</dcterms:created>
  <dcterms:modified xsi:type="dcterms:W3CDTF">2026-09-28T15:54:13Z</dcterms:modified>
</cp:coreProperties>
</file>